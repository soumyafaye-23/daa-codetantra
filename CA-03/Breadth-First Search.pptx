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uce Bold" charset="1" panose="00000800000000000000"/>
      <p:regular r:id="rId15"/>
    </p:embeddedFont>
    <p:embeddedFont>
      <p:font typeface="DM Sans Bold" charset="1" panose="00000000000000000000"/>
      <p:regular r:id="rId16"/>
    </p:embeddedFont>
    <p:embeddedFont>
      <p:font typeface="Open Sauce Heavy" charset="1" panose="00000A00000000000000"/>
      <p:regular r:id="rId17"/>
    </p:embeddedFont>
    <p:embeddedFont>
      <p:font typeface="DM Sans" charset="1" panose="00000000000000000000"/>
      <p:regular r:id="rId18"/>
    </p:embeddedFont>
    <p:embeddedFont>
      <p:font typeface="Open Sauce" charset="1" panose="00000500000000000000"/>
      <p:regular r:id="rId19"/>
    </p:embeddedFont>
    <p:embeddedFont>
      <p:font typeface="Open Sauce Semi-Bold" charset="1" panose="000007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pn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png" Type="http://schemas.openxmlformats.org/officeDocument/2006/relationships/image"/><Relationship Id="rId12" Target="../media/image42.png" Type="http://schemas.openxmlformats.org/officeDocument/2006/relationships/image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12" Target="../media/image53.png" Type="http://schemas.openxmlformats.org/officeDocument/2006/relationships/image"/><Relationship Id="rId13" Target="../media/image54.png" Type="http://schemas.openxmlformats.org/officeDocument/2006/relationships/image"/><Relationship Id="rId14" Target="../media/image55.png" Type="http://schemas.openxmlformats.org/officeDocument/2006/relationships/image"/><Relationship Id="rId15" Target="../media/image56.png" Type="http://schemas.openxmlformats.org/officeDocument/2006/relationships/image"/><Relationship Id="rId16" Target="../media/image57.png" Type="http://schemas.openxmlformats.org/officeDocument/2006/relationships/image"/><Relationship Id="rId17" Target="../media/image58.png" Type="http://schemas.openxmlformats.org/officeDocument/2006/relationships/image"/><Relationship Id="rId18" Target="../media/image59.png" Type="http://schemas.openxmlformats.org/officeDocument/2006/relationships/image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70.png" Type="http://schemas.openxmlformats.org/officeDocument/2006/relationships/image"/><Relationship Id="rId13" Target="../media/image71.png" Type="http://schemas.openxmlformats.org/officeDocument/2006/relationships/image"/><Relationship Id="rId14" Target="../media/image72.png" Type="http://schemas.openxmlformats.org/officeDocument/2006/relationships/image"/><Relationship Id="rId15" Target="../media/image73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83.png" Type="http://schemas.openxmlformats.org/officeDocument/2006/relationships/image"/><Relationship Id="rId12" Target="../media/image84.png" Type="http://schemas.openxmlformats.org/officeDocument/2006/relationships/image"/><Relationship Id="rId13" Target="../media/image85.png" Type="http://schemas.openxmlformats.org/officeDocument/2006/relationships/image"/><Relationship Id="rId14" Target="../media/image86.png" Type="http://schemas.openxmlformats.org/officeDocument/2006/relationships/image"/><Relationship Id="rId15" Target="../media/image87.png" Type="http://schemas.openxmlformats.org/officeDocument/2006/relationships/image"/><Relationship Id="rId16" Target="../media/image88.png" Type="http://schemas.openxmlformats.org/officeDocument/2006/relationships/image"/><Relationship Id="rId17" Target="../media/image89.png" Type="http://schemas.openxmlformats.org/officeDocument/2006/relationships/image"/><Relationship Id="rId18" Target="../media/image90.png" Type="http://schemas.openxmlformats.org/officeDocument/2006/relationships/image"/><Relationship Id="rId19" Target="../media/image91.png" Type="http://schemas.openxmlformats.org/officeDocument/2006/relationships/image"/><Relationship Id="rId2" Target="../media/image74.png" Type="http://schemas.openxmlformats.org/officeDocument/2006/relationships/image"/><Relationship Id="rId20" Target="../media/image92.png" Type="http://schemas.openxmlformats.org/officeDocument/2006/relationships/image"/><Relationship Id="rId21" Target="../media/image93.png" Type="http://schemas.openxmlformats.org/officeDocument/2006/relationships/image"/><Relationship Id="rId3" Target="../media/image75.png" Type="http://schemas.openxmlformats.org/officeDocument/2006/relationships/image"/><Relationship Id="rId4" Target="../media/image76.png" Type="http://schemas.openxmlformats.org/officeDocument/2006/relationships/image"/><Relationship Id="rId5" Target="../media/image77.png" Type="http://schemas.openxmlformats.org/officeDocument/2006/relationships/image"/><Relationship Id="rId6" Target="../media/image78.png" Type="http://schemas.openxmlformats.org/officeDocument/2006/relationships/image"/><Relationship Id="rId7" Target="../media/image79.png" Type="http://schemas.openxmlformats.org/officeDocument/2006/relationships/image"/><Relationship Id="rId8" Target="../media/image80.pn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2.png" Type="http://schemas.openxmlformats.org/officeDocument/2006/relationships/image"/><Relationship Id="rId2" Target="../media/image94.pn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97.pn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Relationship Id="rId9" Target="../media/image10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3.png" Type="http://schemas.openxmlformats.org/officeDocument/2006/relationships/image"/><Relationship Id="rId3" Target="../media/image104.png" Type="http://schemas.openxmlformats.org/officeDocument/2006/relationships/image"/><Relationship Id="rId4" Target="../media/image105.png" Type="http://schemas.openxmlformats.org/officeDocument/2006/relationships/image"/><Relationship Id="rId5" Target="../media/image106.png" Type="http://schemas.openxmlformats.org/officeDocument/2006/relationships/image"/><Relationship Id="rId6" Target="../media/image107.png" Type="http://schemas.openxmlformats.org/officeDocument/2006/relationships/image"/><Relationship Id="rId7" Target="../media/image108.png" Type="http://schemas.openxmlformats.org/officeDocument/2006/relationships/image"/><Relationship Id="rId8" Target="../media/image10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8.png" Type="http://schemas.openxmlformats.org/officeDocument/2006/relationships/image"/><Relationship Id="rId11" Target="../media/image119.png" Type="http://schemas.openxmlformats.org/officeDocument/2006/relationships/image"/><Relationship Id="rId12" Target="../media/image120.png" Type="http://schemas.openxmlformats.org/officeDocument/2006/relationships/image"/><Relationship Id="rId13" Target="../media/image121.png" Type="http://schemas.openxmlformats.org/officeDocument/2006/relationships/image"/><Relationship Id="rId14" Target="../media/image122.png" Type="http://schemas.openxmlformats.org/officeDocument/2006/relationships/image"/><Relationship Id="rId2" Target="../media/image110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13.png" Type="http://schemas.openxmlformats.org/officeDocument/2006/relationships/image"/><Relationship Id="rId6" Target="../media/image114.png" Type="http://schemas.openxmlformats.org/officeDocument/2006/relationships/image"/><Relationship Id="rId7" Target="../media/image115.png" Type="http://schemas.openxmlformats.org/officeDocument/2006/relationships/image"/><Relationship Id="rId8" Target="../media/image116.png" Type="http://schemas.openxmlformats.org/officeDocument/2006/relationships/image"/><Relationship Id="rId9" Target="../media/image1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3.png" Type="http://schemas.openxmlformats.org/officeDocument/2006/relationships/image"/><Relationship Id="rId3" Target="../media/image124.png" Type="http://schemas.openxmlformats.org/officeDocument/2006/relationships/image"/><Relationship Id="rId4" Target="../media/image125.png" Type="http://schemas.openxmlformats.org/officeDocument/2006/relationships/image"/><Relationship Id="rId5" Target="../media/image126.png" Type="http://schemas.openxmlformats.org/officeDocument/2006/relationships/image"/><Relationship Id="rId6" Target="../media/image127.png" Type="http://schemas.openxmlformats.org/officeDocument/2006/relationships/image"/><Relationship Id="rId7" Target="../media/image128.png" Type="http://schemas.openxmlformats.org/officeDocument/2006/relationships/image"/><Relationship Id="rId8" Target="../media/image1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68976" y="207708"/>
            <a:ext cx="9373694" cy="9445237"/>
          </a:xfrm>
          <a:custGeom>
            <a:avLst/>
            <a:gdLst/>
            <a:ahLst/>
            <a:cxnLst/>
            <a:rect r="r" b="b" t="t" l="l"/>
            <a:pathLst>
              <a:path h="9445237" w="9373694">
                <a:moveTo>
                  <a:pt x="0" y="0"/>
                </a:moveTo>
                <a:lnTo>
                  <a:pt x="9373694" y="0"/>
                </a:lnTo>
                <a:lnTo>
                  <a:pt x="9373694" y="9445237"/>
                </a:lnTo>
                <a:lnTo>
                  <a:pt x="0" y="944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1238" y="988225"/>
            <a:ext cx="6812175" cy="232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10"/>
              </a:lnSpc>
            </a:pPr>
            <a:r>
              <a:rPr lang="en-US" sz="8194" b="true">
                <a:solidFill>
                  <a:srgbClr val="0B1F4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Breadth-First Search (BFS)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1664" y="3526970"/>
            <a:ext cx="6127370" cy="107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616" b="true">
                <a:solidFill>
                  <a:srgbClr val="1F8987"/>
                </a:solidFill>
                <a:latin typeface="DM Sans Bold"/>
                <a:ea typeface="DM Sans Bold"/>
                <a:cs typeface="DM Sans Bold"/>
                <a:sym typeface="DM Sans Bold"/>
              </a:rPr>
              <a:t>level-order graph traversal</a:t>
            </a:r>
          </a:p>
          <a:p>
            <a:pPr algn="l">
              <a:lnSpc>
                <a:spcPts val="4340"/>
              </a:lnSpc>
            </a:pPr>
            <a:r>
              <a:rPr lang="en-US" sz="3616" b="true">
                <a:solidFill>
                  <a:srgbClr val="1F8987"/>
                </a:solidFill>
                <a:latin typeface="DM Sans Bold"/>
                <a:ea typeface="DM Sans Bold"/>
                <a:cs typeface="DM Sans Bold"/>
                <a:sym typeface="DM Sans Bold"/>
              </a:rPr>
              <a:t>from a source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6574" y="4711687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84440" y="6635716"/>
            <a:ext cx="1979742" cy="229572"/>
          </a:xfrm>
          <a:custGeom>
            <a:avLst/>
            <a:gdLst/>
            <a:ahLst/>
            <a:cxnLst/>
            <a:rect r="r" b="b" t="t" l="l"/>
            <a:pathLst>
              <a:path h="229572" w="1979742">
                <a:moveTo>
                  <a:pt x="0" y="0"/>
                </a:moveTo>
                <a:lnTo>
                  <a:pt x="1979742" y="0"/>
                </a:lnTo>
                <a:lnTo>
                  <a:pt x="197974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57866" y="7062064"/>
            <a:ext cx="2187560" cy="229572"/>
          </a:xfrm>
          <a:custGeom>
            <a:avLst/>
            <a:gdLst/>
            <a:ahLst/>
            <a:cxnLst/>
            <a:rect r="r" b="b" t="t" l="l"/>
            <a:pathLst>
              <a:path h="229572" w="2187560">
                <a:moveTo>
                  <a:pt x="0" y="0"/>
                </a:moveTo>
                <a:lnTo>
                  <a:pt x="2187560" y="0"/>
                </a:lnTo>
                <a:lnTo>
                  <a:pt x="218756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6574" y="7499343"/>
            <a:ext cx="5461152" cy="2361309"/>
          </a:xfrm>
          <a:custGeom>
            <a:avLst/>
            <a:gdLst/>
            <a:ahLst/>
            <a:cxnLst/>
            <a:rect r="r" b="b" t="t" l="l"/>
            <a:pathLst>
              <a:path h="2361309" w="5461152">
                <a:moveTo>
                  <a:pt x="0" y="0"/>
                </a:moveTo>
                <a:lnTo>
                  <a:pt x="5461152" y="0"/>
                </a:lnTo>
                <a:lnTo>
                  <a:pt x="546115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5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74576" y="7787284"/>
            <a:ext cx="4554141" cy="168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b="true">
                <a:solidFill>
                  <a:srgbClr val="F6F1E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unweighted shortest paths</a:t>
            </a:r>
          </a:p>
          <a:p>
            <a:pPr algn="l">
              <a:lnSpc>
                <a:spcPts val="3482"/>
              </a:lnSpc>
            </a:pPr>
            <a:r>
              <a:rPr lang="en-US" sz="2321" b="true">
                <a:solidFill>
                  <a:srgbClr val="F6F1E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queue-based exploration</a:t>
            </a:r>
          </a:p>
          <a:p>
            <a:pPr algn="l">
              <a:lnSpc>
                <a:spcPts val="3482"/>
              </a:lnSpc>
            </a:pPr>
            <a:r>
              <a:rPr lang="en-US" sz="2321" b="true">
                <a:solidFill>
                  <a:srgbClr val="F6F1E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graph traversal</a:t>
            </a:r>
          </a:p>
          <a:p>
            <a:pPr algn="l">
              <a:lnSpc>
                <a:spcPts val="3482"/>
              </a:lnSpc>
            </a:pPr>
            <a:r>
              <a:rPr lang="en-US" sz="2321" b="true">
                <a:solidFill>
                  <a:srgbClr val="F6F1E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complexity analysis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403464" y="1924030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863667" y="2146834"/>
            <a:ext cx="349139" cy="68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3805">
                <a:solidFill>
                  <a:srgbClr val="F6F1EC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445598" y="3640352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403464" y="3640352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854702" y="3803527"/>
            <a:ext cx="367069" cy="68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3805">
                <a:solidFill>
                  <a:srgbClr val="F6F1EC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580086" y="3640352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351818" y="5356674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652821" y="5505402"/>
            <a:ext cx="287877" cy="68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3805">
                <a:solidFill>
                  <a:srgbClr val="F6F1EC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101866" y="5356674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534780" y="5505402"/>
            <a:ext cx="274430" cy="68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3805">
                <a:solidFill>
                  <a:srgbClr val="F6F1EC"/>
                </a:solidFill>
                <a:latin typeface="DM Sans Bold"/>
                <a:ea typeface="DM Sans Bold"/>
                <a:cs typeface="DM Sans Bold"/>
                <a:sym typeface="DM Sans Bold"/>
              </a:rPr>
              <a:t>F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403464" y="5356674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845737" y="5505402"/>
            <a:ext cx="384999" cy="68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3805">
                <a:solidFill>
                  <a:srgbClr val="F6F1EC"/>
                </a:solidFill>
                <a:latin typeface="DM Sans Bold"/>
                <a:ea typeface="DM Sans Bold"/>
                <a:cs typeface="DM Sans Bold"/>
                <a:sym typeface="DM Sans Bold"/>
              </a:rPr>
              <a:t>G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923818" y="5356674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201875" y="5505402"/>
            <a:ext cx="351629" cy="68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3805">
                <a:solidFill>
                  <a:srgbClr val="F6F1EC"/>
                </a:solidFill>
                <a:latin typeface="DM Sans Bold"/>
                <a:ea typeface="DM Sans Bold"/>
                <a:cs typeface="DM Sans Bold"/>
                <a:sym typeface="DM Sans Bold"/>
              </a:rPr>
              <a:t>H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673866" y="5356674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351818" y="7280704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101866" y="7280704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512616" y="7388007"/>
            <a:ext cx="318757" cy="68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3805">
                <a:solidFill>
                  <a:srgbClr val="F6F1EC"/>
                </a:solidFill>
                <a:latin typeface="DM Sans Bold"/>
                <a:ea typeface="DM Sans Bold"/>
                <a:cs typeface="DM Sans Bold"/>
                <a:sym typeface="DM Sans Bold"/>
              </a:rPr>
              <a:t>K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923818" y="7280704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240475" y="7388007"/>
            <a:ext cx="274430" cy="68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3805">
                <a:solidFill>
                  <a:srgbClr val="F6F1EC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5673866" y="7280704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6033032" y="7388007"/>
            <a:ext cx="439785" cy="68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3805">
                <a:solidFill>
                  <a:srgbClr val="F6F1EC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1101866" y="2569017"/>
            <a:ext cx="1531292" cy="1289974"/>
          </a:xfrm>
          <a:custGeom>
            <a:avLst/>
            <a:gdLst/>
            <a:ahLst/>
            <a:cxnLst/>
            <a:rect r="r" b="b" t="t" l="l"/>
            <a:pathLst>
              <a:path h="1289974" w="1531292">
                <a:moveTo>
                  <a:pt x="0" y="0"/>
                </a:moveTo>
                <a:lnTo>
                  <a:pt x="1531292" y="0"/>
                </a:lnTo>
                <a:lnTo>
                  <a:pt x="153129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278488" y="2569017"/>
            <a:ext cx="1531292" cy="1289974"/>
          </a:xfrm>
          <a:custGeom>
            <a:avLst/>
            <a:gdLst/>
            <a:ahLst/>
            <a:cxnLst/>
            <a:rect r="r" b="b" t="t" l="l"/>
            <a:pathLst>
              <a:path h="1289974" w="1531292">
                <a:moveTo>
                  <a:pt x="0" y="0"/>
                </a:moveTo>
                <a:lnTo>
                  <a:pt x="1531292" y="0"/>
                </a:lnTo>
                <a:lnTo>
                  <a:pt x="153129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008086" y="4493047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101866" y="4493047"/>
            <a:ext cx="656268" cy="1082267"/>
          </a:xfrm>
          <a:custGeom>
            <a:avLst/>
            <a:gdLst/>
            <a:ahLst/>
            <a:cxnLst/>
            <a:rect r="r" b="b" t="t" l="l"/>
            <a:pathLst>
              <a:path h="1082267" w="656268">
                <a:moveTo>
                  <a:pt x="0" y="0"/>
                </a:moveTo>
                <a:lnTo>
                  <a:pt x="656268" y="0"/>
                </a:lnTo>
                <a:lnTo>
                  <a:pt x="65626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840976" y="2995365"/>
            <a:ext cx="448450" cy="1727254"/>
          </a:xfrm>
          <a:custGeom>
            <a:avLst/>
            <a:gdLst/>
            <a:ahLst/>
            <a:cxnLst/>
            <a:rect r="r" b="b" t="t" l="l"/>
            <a:pathLst>
              <a:path h="1727254" w="448450">
                <a:moveTo>
                  <a:pt x="0" y="0"/>
                </a:moveTo>
                <a:lnTo>
                  <a:pt x="448450" y="0"/>
                </a:lnTo>
                <a:lnTo>
                  <a:pt x="44845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840976" y="4493047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4142574" y="4493047"/>
            <a:ext cx="667206" cy="1082267"/>
          </a:xfrm>
          <a:custGeom>
            <a:avLst/>
            <a:gdLst/>
            <a:ahLst/>
            <a:cxnLst/>
            <a:rect r="r" b="b" t="t" l="l"/>
            <a:pathLst>
              <a:path h="1082267" w="667206">
                <a:moveTo>
                  <a:pt x="0" y="0"/>
                </a:moveTo>
                <a:lnTo>
                  <a:pt x="667206" y="0"/>
                </a:lnTo>
                <a:lnTo>
                  <a:pt x="66720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4580086" y="4493047"/>
            <a:ext cx="1531292" cy="1082267"/>
          </a:xfrm>
          <a:custGeom>
            <a:avLst/>
            <a:gdLst/>
            <a:ahLst/>
            <a:cxnLst/>
            <a:rect r="r" b="b" t="t" l="l"/>
            <a:pathLst>
              <a:path h="1082267" w="1531292">
                <a:moveTo>
                  <a:pt x="0" y="0"/>
                </a:moveTo>
                <a:lnTo>
                  <a:pt x="1531292" y="0"/>
                </a:lnTo>
                <a:lnTo>
                  <a:pt x="153129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9570574" y="6209369"/>
            <a:ext cx="448450" cy="1300906"/>
          </a:xfrm>
          <a:custGeom>
            <a:avLst/>
            <a:gdLst/>
            <a:ahLst/>
            <a:cxnLst/>
            <a:rect r="r" b="b" t="t" l="l"/>
            <a:pathLst>
              <a:path h="1300906" w="448450">
                <a:moveTo>
                  <a:pt x="0" y="0"/>
                </a:moveTo>
                <a:lnTo>
                  <a:pt x="448450" y="0"/>
                </a:lnTo>
                <a:lnTo>
                  <a:pt x="448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1528440" y="6209369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4142574" y="6209369"/>
            <a:ext cx="448450" cy="1300906"/>
          </a:xfrm>
          <a:custGeom>
            <a:avLst/>
            <a:gdLst/>
            <a:ahLst/>
            <a:cxnLst/>
            <a:rect r="r" b="b" t="t" l="l"/>
            <a:pathLst>
              <a:path h="1300906" w="448450">
                <a:moveTo>
                  <a:pt x="0" y="0"/>
                </a:moveTo>
                <a:lnTo>
                  <a:pt x="448450" y="0"/>
                </a:lnTo>
                <a:lnTo>
                  <a:pt x="448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6100440" y="6209369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669727" y="5525694"/>
            <a:ext cx="4554141" cy="3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true">
                <a:solidFill>
                  <a:srgbClr val="1B274D"/>
                </a:solidFill>
                <a:latin typeface="DM Sans Bold"/>
                <a:ea typeface="DM Sans Bold"/>
                <a:cs typeface="DM Sans Bold"/>
                <a:sym typeface="DM Sans Bold"/>
              </a:rPr>
              <a:t>DAA CA-3 Component 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69727" y="6300580"/>
            <a:ext cx="4554141" cy="3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true">
                <a:solidFill>
                  <a:srgbClr val="1B274D"/>
                </a:solidFill>
                <a:latin typeface="DM Sans Bold"/>
                <a:ea typeface="DM Sans Bold"/>
                <a:cs typeface="DM Sans Bold"/>
                <a:sym typeface="DM Sans Bold"/>
              </a:rPr>
              <a:t>PRN 25070521291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69727" y="6726433"/>
            <a:ext cx="4554141" cy="80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true">
                <a:solidFill>
                  <a:srgbClr val="1B274D"/>
                </a:solidFill>
                <a:latin typeface="DM Sans Bold"/>
                <a:ea typeface="DM Sans Bold"/>
                <a:cs typeface="DM Sans Bold"/>
                <a:sym typeface="DM Sans Bold"/>
              </a:rPr>
              <a:t>SEC E (E2)</a:t>
            </a:r>
          </a:p>
          <a:p>
            <a:pPr algn="l">
              <a:lnSpc>
                <a:spcPts val="3282"/>
              </a:lnSpc>
            </a:pPr>
            <a:r>
              <a:rPr lang="en-US" sz="2188" b="true">
                <a:solidFill>
                  <a:srgbClr val="1B274D"/>
                </a:solidFill>
                <a:latin typeface="DM Sans Bold"/>
                <a:ea typeface="DM Sans Bold"/>
                <a:cs typeface="DM Sans Bold"/>
                <a:sym typeface="DM Sans Bold"/>
              </a:rPr>
              <a:t>NAME  SOUMYA FAYE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004302" y="3803527"/>
            <a:ext cx="354119" cy="68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3805">
                <a:solidFill>
                  <a:srgbClr val="F6F1EC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818342" y="3803527"/>
            <a:ext cx="314275" cy="68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3805">
                <a:solidFill>
                  <a:srgbClr val="F6F1EC"/>
                </a:solidFill>
                <a:latin typeface="DM Sans Bold"/>
                <a:ea typeface="DM Sans Bold"/>
                <a:cs typeface="DM Sans Bold"/>
                <a:sym typeface="DM Sans Bold"/>
              </a:rPr>
              <a:t>B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664277" y="7388007"/>
            <a:ext cx="264967" cy="68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3805">
                <a:solidFill>
                  <a:srgbClr val="F6F1EC"/>
                </a:solidFill>
                <a:latin typeface="DM Sans Bold"/>
                <a:ea typeface="DM Sans Bold"/>
                <a:cs typeface="DM Sans Bold"/>
                <a:sym typeface="DM Sans Bold"/>
              </a:rPr>
              <a:t>J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187181" y="5505402"/>
            <a:ext cx="131487" cy="68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3805">
                <a:solidFill>
                  <a:srgbClr val="F6F1EC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4781" y="620227"/>
            <a:ext cx="6457804" cy="110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6"/>
              </a:lnSpc>
            </a:pPr>
            <a:r>
              <a:rPr lang="en-US" sz="7354" b="true">
                <a:solidFill>
                  <a:srgbClr val="222B4B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What Is BFS?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1476" y="1870277"/>
            <a:ext cx="5788300" cy="67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530" b="true">
                <a:solidFill>
                  <a:srgbClr val="222B4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 Idea and Uses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776725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0173" y="3481787"/>
            <a:ext cx="2597585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b="true">
                <a:solidFill>
                  <a:srgbClr val="222B4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BFS explores a graph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7518" y="3813125"/>
            <a:ext cx="2863092" cy="48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234" b="true">
                <a:solidFill>
                  <a:srgbClr val="E06B4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level by level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0211" y="4356560"/>
            <a:ext cx="6593788" cy="59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spc="-17">
                <a:solidFill>
                  <a:srgbClr val="222B4B"/>
                </a:solidFill>
                <a:latin typeface="DM Sans"/>
                <a:ea typeface="DM Sans"/>
                <a:cs typeface="DM Sans"/>
                <a:sym typeface="DM Sans"/>
              </a:rPr>
              <a:t>visiting all vertices at distance 0, then 1, then 2, and so on from the source.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1395" y="5701266"/>
            <a:ext cx="5796408" cy="43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b="true">
                <a:solidFill>
                  <a:srgbClr val="45ABA3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First-In, First-Out (FIFO) queue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9395" y="6855415"/>
            <a:ext cx="2675321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b="true">
                <a:solidFill>
                  <a:srgbClr val="222B4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 unweighted graphs,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8751" y="7192290"/>
            <a:ext cx="4739721" cy="43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b="true">
                <a:solidFill>
                  <a:srgbClr val="45ABA3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BFS finds shortest paths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3904" y="7660149"/>
            <a:ext cx="3224399" cy="31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63" spc="-18">
                <a:solidFill>
                  <a:srgbClr val="222B4B"/>
                </a:solidFill>
                <a:latin typeface="DM Sans"/>
                <a:ea typeface="DM Sans"/>
                <a:cs typeface="DM Sans"/>
                <a:sym typeface="DM Sans"/>
              </a:rPr>
              <a:t>in terms of number of edges.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3311" y="8376560"/>
            <a:ext cx="2283728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b="true">
                <a:solidFill>
                  <a:srgbClr val="222B4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BFS works on both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5251" y="8683313"/>
            <a:ext cx="6089700" cy="43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b="true">
                <a:solidFill>
                  <a:srgbClr val="45ABA3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directed and undirected graphs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9088" y="9151172"/>
            <a:ext cx="5706006" cy="31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63" spc="-18">
                <a:solidFill>
                  <a:srgbClr val="222B4B"/>
                </a:solidFill>
                <a:latin typeface="DM Sans"/>
                <a:ea typeface="DM Sans"/>
                <a:cs typeface="DM Sans"/>
                <a:sym typeface="DM Sans"/>
              </a:rPr>
              <a:t>direction determines which edges can be followed.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487732" y="207708"/>
            <a:ext cx="9592450" cy="6438940"/>
          </a:xfrm>
          <a:custGeom>
            <a:avLst/>
            <a:gdLst/>
            <a:ahLst/>
            <a:cxnLst/>
            <a:rect r="r" b="b" t="t" l="l"/>
            <a:pathLst>
              <a:path h="6438940" w="9592450">
                <a:moveTo>
                  <a:pt x="0" y="0"/>
                </a:moveTo>
                <a:lnTo>
                  <a:pt x="9592450" y="0"/>
                </a:lnTo>
                <a:lnTo>
                  <a:pt x="9592450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179328" y="1177479"/>
            <a:ext cx="932076" cy="28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true">
                <a:solidFill>
                  <a:srgbClr val="E06B4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Level 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77815" y="1548463"/>
            <a:ext cx="1083339" cy="22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15" b="true">
                <a:solidFill>
                  <a:srgbClr val="222B4B"/>
                </a:solidFill>
                <a:latin typeface="DM Sans Bold"/>
                <a:ea typeface="DM Sans Bold"/>
                <a:cs typeface="DM Sans Bold"/>
                <a:sym typeface="DM Sans Bold"/>
              </a:rPr>
              <a:t>distance 0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445598" y="1497682"/>
            <a:ext cx="3062584" cy="218640"/>
          </a:xfrm>
          <a:custGeom>
            <a:avLst/>
            <a:gdLst/>
            <a:ahLst/>
            <a:cxnLst/>
            <a:rect r="r" b="b" t="t" l="l"/>
            <a:pathLst>
              <a:path h="218640" w="3062584">
                <a:moveTo>
                  <a:pt x="0" y="0"/>
                </a:moveTo>
                <a:lnTo>
                  <a:pt x="3062584" y="0"/>
                </a:lnTo>
                <a:lnTo>
                  <a:pt x="306258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179893" y="2457650"/>
            <a:ext cx="875563" cy="28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true">
                <a:solidFill>
                  <a:srgbClr val="45ABA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Level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78591" y="2813574"/>
            <a:ext cx="1005780" cy="22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15" b="true">
                <a:solidFill>
                  <a:srgbClr val="222B4B"/>
                </a:solidFill>
                <a:latin typeface="DM Sans Bold"/>
                <a:ea typeface="DM Sans Bold"/>
                <a:cs typeface="DM Sans Bold"/>
                <a:sym typeface="DM Sans Bold"/>
              </a:rPr>
              <a:t>distance 1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445598" y="2569017"/>
            <a:ext cx="1968804" cy="437279"/>
          </a:xfrm>
          <a:custGeom>
            <a:avLst/>
            <a:gdLst/>
            <a:ahLst/>
            <a:cxnLst/>
            <a:rect r="r" b="b" t="t" l="l"/>
            <a:pathLst>
              <a:path h="437279" w="1968804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179384" y="3722761"/>
            <a:ext cx="926399" cy="28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true">
                <a:solidFill>
                  <a:srgbClr val="45ABA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Level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78110" y="4093746"/>
            <a:ext cx="1053803" cy="22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15" b="true">
                <a:solidFill>
                  <a:srgbClr val="222B4B"/>
                </a:solidFill>
                <a:latin typeface="DM Sans Bold"/>
                <a:ea typeface="DM Sans Bold"/>
                <a:cs typeface="DM Sans Bold"/>
                <a:sym typeface="DM Sans Bold"/>
              </a:rPr>
              <a:t>distance 2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445598" y="3848060"/>
            <a:ext cx="1968804" cy="448211"/>
          </a:xfrm>
          <a:custGeom>
            <a:avLst/>
            <a:gdLst/>
            <a:ahLst/>
            <a:cxnLst/>
            <a:rect r="r" b="b" t="t" l="l"/>
            <a:pathLst>
              <a:path h="448211" w="1968804">
                <a:moveTo>
                  <a:pt x="0" y="0"/>
                </a:moveTo>
                <a:lnTo>
                  <a:pt x="1968804" y="0"/>
                </a:lnTo>
                <a:lnTo>
                  <a:pt x="196880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179348" y="5048115"/>
            <a:ext cx="930011" cy="28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true">
                <a:solidFill>
                  <a:srgbClr val="45ABA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Level 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78057" y="5388978"/>
            <a:ext cx="1059115" cy="22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15" b="true">
                <a:solidFill>
                  <a:srgbClr val="222B4B"/>
                </a:solidFill>
                <a:latin typeface="DM Sans Bold"/>
                <a:ea typeface="DM Sans Bold"/>
                <a:cs typeface="DM Sans Bold"/>
                <a:sym typeface="DM Sans Bold"/>
              </a:rPr>
              <a:t>distance 3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445598" y="5356674"/>
            <a:ext cx="1968804" cy="218640"/>
          </a:xfrm>
          <a:custGeom>
            <a:avLst/>
            <a:gdLst/>
            <a:ahLst/>
            <a:cxnLst/>
            <a:rect r="r" b="b" t="t" l="l"/>
            <a:pathLst>
              <a:path h="218640" w="1968804">
                <a:moveTo>
                  <a:pt x="0" y="0"/>
                </a:moveTo>
                <a:lnTo>
                  <a:pt x="1968804" y="0"/>
                </a:lnTo>
                <a:lnTo>
                  <a:pt x="196880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528440" y="634055"/>
            <a:ext cx="5239206" cy="5586245"/>
          </a:xfrm>
          <a:custGeom>
            <a:avLst/>
            <a:gdLst/>
            <a:ahLst/>
            <a:cxnLst/>
            <a:rect r="r" b="b" t="t" l="l"/>
            <a:pathLst>
              <a:path h="5586245" w="5239206">
                <a:moveTo>
                  <a:pt x="0" y="0"/>
                </a:moveTo>
                <a:lnTo>
                  <a:pt x="5239206" y="0"/>
                </a:lnTo>
                <a:lnTo>
                  <a:pt x="5239206" y="5586246"/>
                </a:lnTo>
                <a:lnTo>
                  <a:pt x="0" y="55862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747196" y="1705390"/>
            <a:ext cx="4582938" cy="4088563"/>
          </a:xfrm>
          <a:custGeom>
            <a:avLst/>
            <a:gdLst/>
            <a:ahLst/>
            <a:cxnLst/>
            <a:rect r="r" b="b" t="t" l="l"/>
            <a:pathLst>
              <a:path h="4088563" w="4582938">
                <a:moveTo>
                  <a:pt x="0" y="0"/>
                </a:moveTo>
                <a:lnTo>
                  <a:pt x="4582938" y="0"/>
                </a:lnTo>
                <a:lnTo>
                  <a:pt x="4582938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487732" y="6635716"/>
            <a:ext cx="9592450" cy="3443576"/>
          </a:xfrm>
          <a:custGeom>
            <a:avLst/>
            <a:gdLst/>
            <a:ahLst/>
            <a:cxnLst/>
            <a:rect r="r" b="b" t="t" l="l"/>
            <a:pathLst>
              <a:path h="3443576" w="9592450">
                <a:moveTo>
                  <a:pt x="0" y="0"/>
                </a:moveTo>
                <a:lnTo>
                  <a:pt x="9592450" y="0"/>
                </a:lnTo>
                <a:lnTo>
                  <a:pt x="9592450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169695" y="7433263"/>
            <a:ext cx="1895378" cy="188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b="true">
                <a:solidFill>
                  <a:srgbClr val="F5F5F5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Where BFS Excels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1747196" y="7280704"/>
            <a:ext cx="229694" cy="2372241"/>
          </a:xfrm>
          <a:custGeom>
            <a:avLst/>
            <a:gdLst/>
            <a:ahLst/>
            <a:cxnLst/>
            <a:rect r="r" b="b" t="t" l="l"/>
            <a:pathLst>
              <a:path h="2372241" w="229694">
                <a:moveTo>
                  <a:pt x="0" y="0"/>
                </a:moveTo>
                <a:lnTo>
                  <a:pt x="229694" y="0"/>
                </a:lnTo>
                <a:lnTo>
                  <a:pt x="22969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404364" y="7307241"/>
            <a:ext cx="2576129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18" b="true">
                <a:solidFill>
                  <a:srgbClr val="F5F5F5"/>
                </a:solidFill>
                <a:latin typeface="DM Sans Bold"/>
                <a:ea typeface="DM Sans Bold"/>
                <a:cs typeface="DM Sans Bold"/>
                <a:sym typeface="DM Sans Bold"/>
              </a:rPr>
              <a:t>Network broadcasting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02453" y="7774127"/>
            <a:ext cx="2767180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18" b="true">
                <a:solidFill>
                  <a:srgbClr val="F5F5F5"/>
                </a:solidFill>
                <a:latin typeface="DM Sans Bold"/>
                <a:ea typeface="DM Sans Bold"/>
                <a:cs typeface="DM Sans Bold"/>
                <a:sym typeface="DM Sans Bold"/>
              </a:rPr>
              <a:t>Social-network degrees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14435" y="8241013"/>
            <a:ext cx="1568998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18" b="true">
                <a:solidFill>
                  <a:srgbClr val="F5F5F5"/>
                </a:solidFill>
                <a:latin typeface="DM Sans Bold"/>
                <a:ea typeface="DM Sans Bold"/>
                <a:cs typeface="DM Sans Bold"/>
                <a:sym typeface="DM Sans Bold"/>
              </a:rPr>
              <a:t>Web crawling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15441" y="8707899"/>
            <a:ext cx="1468427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18" b="true">
                <a:solidFill>
                  <a:srgbClr val="F5F5F5"/>
                </a:solidFill>
                <a:latin typeface="DM Sans Bold"/>
                <a:ea typeface="DM Sans Bold"/>
                <a:cs typeface="DM Sans Bold"/>
                <a:sym typeface="DM Sans Bold"/>
              </a:rPr>
              <a:t>Maze solving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91688" y="9189846"/>
            <a:ext cx="3843674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18" b="true">
                <a:solidFill>
                  <a:srgbClr val="F5F5F5"/>
                </a:solidFill>
                <a:latin typeface="DM Sans Bold"/>
                <a:ea typeface="DM Sans Bold"/>
                <a:cs typeface="DM Sans Bold"/>
                <a:sym typeface="DM Sans Bold"/>
              </a:rPr>
              <a:t>Connectedcomponent discovery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90527" y="6154065"/>
            <a:ext cx="2562095" cy="31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1863" spc="-18">
                <a:solidFill>
                  <a:srgbClr val="222B4B"/>
                </a:solidFill>
                <a:latin typeface="DM Sans"/>
                <a:ea typeface="DM Sans"/>
                <a:cs typeface="DM Sans"/>
                <a:sym typeface="DM Sans"/>
              </a:rPr>
              <a:t>to manage the frontier.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05975" y="5379453"/>
            <a:ext cx="1017365" cy="267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b="true">
                <a:solidFill>
                  <a:srgbClr val="222B4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 uses 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8476" y="665410"/>
            <a:ext cx="8088367" cy="171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6"/>
              </a:lnSpc>
            </a:pPr>
            <a:r>
              <a:rPr lang="en-US" sz="5729" spc="-229" b="true">
                <a:solidFill>
                  <a:srgbClr val="2B3552"/>
                </a:solidFill>
                <a:latin typeface="DM Sans Bold"/>
                <a:ea typeface="DM Sans Bold"/>
                <a:cs typeface="DM Sans Bold"/>
                <a:sym typeface="DM Sans Bold"/>
              </a:rPr>
              <a:t>Graph Representation, Queue and Visited State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569017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89359" y="3368431"/>
            <a:ext cx="4822031" cy="125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spc="-22" b="true">
                <a:solidFill>
                  <a:srgbClr val="2B35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graph G = (V, E) is stored using </a:t>
            </a:r>
            <a:r>
              <a:rPr lang="en-US" sz="2321" spc="-22" b="true">
                <a:solidFill>
                  <a:srgbClr val="45A8A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adjacency lists</a:t>
            </a:r>
          </a:p>
          <a:p>
            <a:pPr algn="l">
              <a:lnSpc>
                <a:spcPts val="3482"/>
              </a:lnSpc>
            </a:pPr>
            <a:r>
              <a:rPr lang="en-US" sz="2321" spc="-22" b="true">
                <a:solidFill>
                  <a:srgbClr val="2B35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 efficient traversal.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2744" y="5027347"/>
            <a:ext cx="4661513" cy="80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179" spc="-21" b="true">
                <a:solidFill>
                  <a:srgbClr val="2B3552"/>
                </a:solidFill>
                <a:latin typeface="DM Sans Bold"/>
                <a:ea typeface="DM Sans Bold"/>
                <a:cs typeface="DM Sans Bold"/>
                <a:sym typeface="DM Sans Bold"/>
              </a:rPr>
              <a:t>BFS explores level by level using a</a:t>
            </a:r>
          </a:p>
          <a:p>
            <a:pPr algn="l">
              <a:lnSpc>
                <a:spcPts val="3269"/>
              </a:lnSpc>
            </a:pPr>
            <a:r>
              <a:rPr lang="en-US" sz="2179" spc="-21" b="true">
                <a:solidFill>
                  <a:srgbClr val="45A8A0"/>
                </a:solidFill>
                <a:latin typeface="DM Sans Bold"/>
                <a:ea typeface="DM Sans Bold"/>
                <a:cs typeface="DM Sans Bold"/>
                <a:sym typeface="DM Sans Bold"/>
              </a:rPr>
              <a:t>FIFO queue.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9359" y="6284314"/>
            <a:ext cx="5170289" cy="80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spc="-21" b="true">
                <a:solidFill>
                  <a:srgbClr val="2B3552"/>
                </a:solidFill>
                <a:latin typeface="DM Sans Bold"/>
                <a:ea typeface="DM Sans Bold"/>
                <a:cs typeface="DM Sans Bold"/>
                <a:sym typeface="DM Sans Bold"/>
              </a:rPr>
              <a:t>Mark a vertex </a:t>
            </a:r>
            <a:r>
              <a:rPr lang="en-US" sz="2188" spc="-21" b="true">
                <a:solidFill>
                  <a:srgbClr val="45A8A0"/>
                </a:solidFill>
                <a:latin typeface="DM Sans Bold"/>
                <a:ea typeface="DM Sans Bold"/>
                <a:cs typeface="DM Sans Bold"/>
                <a:sym typeface="DM Sans Bold"/>
              </a:rPr>
              <a:t>discovered</a:t>
            </a:r>
          </a:p>
          <a:p>
            <a:pPr algn="l">
              <a:lnSpc>
                <a:spcPts val="3282"/>
              </a:lnSpc>
            </a:pPr>
            <a:r>
              <a:rPr lang="en-US" sz="2188" spc="-21" b="true">
                <a:solidFill>
                  <a:srgbClr val="2B3552"/>
                </a:solidFill>
                <a:latin typeface="DM Sans Bold"/>
                <a:ea typeface="DM Sans Bold"/>
                <a:cs typeface="DM Sans Bold"/>
                <a:sym typeface="DM Sans Bold"/>
              </a:rPr>
              <a:t>when enqueuing it to avoid duplicates.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7796" y="7508413"/>
            <a:ext cx="3156299" cy="12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179" spc="-21" b="true">
                <a:solidFill>
                  <a:srgbClr val="2B3552"/>
                </a:solidFill>
                <a:latin typeface="DM Sans Bold"/>
                <a:ea typeface="DM Sans Bold"/>
                <a:cs typeface="DM Sans Bold"/>
                <a:sym typeface="DM Sans Bold"/>
              </a:rPr>
              <a:t>Track each vertex with</a:t>
            </a:r>
          </a:p>
          <a:p>
            <a:pPr algn="l">
              <a:lnSpc>
                <a:spcPts val="3269"/>
              </a:lnSpc>
            </a:pPr>
            <a:r>
              <a:rPr lang="en-US" sz="2179" spc="-21" b="true">
                <a:solidFill>
                  <a:srgbClr val="45A8A0"/>
                </a:solidFill>
                <a:latin typeface="DM Sans Bold"/>
                <a:ea typeface="DM Sans Bold"/>
                <a:cs typeface="DM Sans Bold"/>
                <a:sym typeface="DM Sans Bold"/>
              </a:rPr>
              <a:t>parent and distance</a:t>
            </a:r>
          </a:p>
          <a:p>
            <a:pPr algn="l">
              <a:lnSpc>
                <a:spcPts val="3269"/>
              </a:lnSpc>
            </a:pPr>
            <a:r>
              <a:rPr lang="en-US" sz="2179" spc="-21" b="true">
                <a:solidFill>
                  <a:srgbClr val="2B3552"/>
                </a:solidFill>
                <a:latin typeface="DM Sans Bold"/>
                <a:ea typeface="DM Sans Bold"/>
                <a:cs typeface="DM Sans Bold"/>
                <a:sym typeface="DM Sans Bold"/>
              </a:rPr>
              <a:t>values from the source.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570574" y="1071335"/>
            <a:ext cx="4145426" cy="3858991"/>
          </a:xfrm>
          <a:custGeom>
            <a:avLst/>
            <a:gdLst/>
            <a:ahLst/>
            <a:cxnLst/>
            <a:rect r="r" b="b" t="t" l="l"/>
            <a:pathLst>
              <a:path h="3858991" w="4145426">
                <a:moveTo>
                  <a:pt x="0" y="0"/>
                </a:moveTo>
                <a:lnTo>
                  <a:pt x="4145426" y="0"/>
                </a:lnTo>
                <a:lnTo>
                  <a:pt x="4145426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474005" y="1029685"/>
            <a:ext cx="1887823" cy="35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45A8A0"/>
                </a:solidFill>
                <a:latin typeface="DM Sans Bold"/>
                <a:ea typeface="DM Sans Bold"/>
                <a:cs typeface="DM Sans Bold"/>
                <a:sym typeface="DM Sans Bold"/>
              </a:rPr>
              <a:t>Adjacency List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361330" y="1497682"/>
            <a:ext cx="3062584" cy="3651284"/>
          </a:xfrm>
          <a:custGeom>
            <a:avLst/>
            <a:gdLst/>
            <a:ahLst/>
            <a:cxnLst/>
            <a:rect r="r" b="b" t="t" l="l"/>
            <a:pathLst>
              <a:path h="3651284" w="3062584">
                <a:moveTo>
                  <a:pt x="0" y="0"/>
                </a:moveTo>
                <a:lnTo>
                  <a:pt x="3062584" y="0"/>
                </a:lnTo>
                <a:lnTo>
                  <a:pt x="3062584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61330" y="1497682"/>
            <a:ext cx="885962" cy="3651284"/>
          </a:xfrm>
          <a:custGeom>
            <a:avLst/>
            <a:gdLst/>
            <a:ahLst/>
            <a:cxnLst/>
            <a:rect r="r" b="b" t="t" l="l"/>
            <a:pathLst>
              <a:path h="3651284" w="885962">
                <a:moveTo>
                  <a:pt x="0" y="0"/>
                </a:moveTo>
                <a:lnTo>
                  <a:pt x="885962" y="0"/>
                </a:lnTo>
                <a:lnTo>
                  <a:pt x="885962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017598" y="1497682"/>
            <a:ext cx="2406316" cy="3651284"/>
          </a:xfrm>
          <a:custGeom>
            <a:avLst/>
            <a:gdLst/>
            <a:ahLst/>
            <a:cxnLst/>
            <a:rect r="r" b="b" t="t" l="l"/>
            <a:pathLst>
              <a:path h="3651284" w="2406316">
                <a:moveTo>
                  <a:pt x="0" y="0"/>
                </a:moveTo>
                <a:lnTo>
                  <a:pt x="2406316" y="0"/>
                </a:lnTo>
                <a:lnTo>
                  <a:pt x="2406316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48622" y="5783021"/>
            <a:ext cx="3707914" cy="3869923"/>
          </a:xfrm>
          <a:custGeom>
            <a:avLst/>
            <a:gdLst/>
            <a:ahLst/>
            <a:cxnLst/>
            <a:rect r="r" b="b" t="t" l="l"/>
            <a:pathLst>
              <a:path h="3869923" w="3707914">
                <a:moveTo>
                  <a:pt x="0" y="0"/>
                </a:moveTo>
                <a:lnTo>
                  <a:pt x="3707914" y="0"/>
                </a:lnTo>
                <a:lnTo>
                  <a:pt x="3707914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748622" y="5783021"/>
            <a:ext cx="3707914" cy="863627"/>
          </a:xfrm>
          <a:custGeom>
            <a:avLst/>
            <a:gdLst/>
            <a:ahLst/>
            <a:cxnLst/>
            <a:rect r="r" b="b" t="t" l="l"/>
            <a:pathLst>
              <a:path h="863627" w="3707914">
                <a:moveTo>
                  <a:pt x="0" y="0"/>
                </a:moveTo>
                <a:lnTo>
                  <a:pt x="3707914" y="0"/>
                </a:lnTo>
                <a:lnTo>
                  <a:pt x="370791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850757" y="6060005"/>
            <a:ext cx="1468668" cy="35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FIFO Queue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956440" y="6635716"/>
            <a:ext cx="3281340" cy="1082267"/>
          </a:xfrm>
          <a:custGeom>
            <a:avLst/>
            <a:gdLst/>
            <a:ahLst/>
            <a:cxnLst/>
            <a:rect r="r" b="b" t="t" l="l"/>
            <a:pathLst>
              <a:path h="1082267" w="3281340">
                <a:moveTo>
                  <a:pt x="0" y="0"/>
                </a:moveTo>
                <a:lnTo>
                  <a:pt x="3281340" y="0"/>
                </a:lnTo>
                <a:lnTo>
                  <a:pt x="328134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208261" y="8476364"/>
            <a:ext cx="2478614" cy="57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b="true" sz="1617" spc="-15">
                <a:solidFill>
                  <a:srgbClr val="2B3552"/>
                </a:solidFill>
                <a:latin typeface="DM Sans Bold"/>
                <a:ea typeface="DM Sans Bold"/>
                <a:cs typeface="DM Sans Bold"/>
                <a:sym typeface="DM Sans Bold"/>
              </a:rPr>
              <a:t>enqueue at </a:t>
            </a:r>
            <a:r>
              <a:rPr lang="en-US" b="true" sz="1617" spc="-15">
                <a:solidFill>
                  <a:srgbClr val="45A8A0"/>
                </a:solidFill>
                <a:latin typeface="DM Sans Bold"/>
                <a:ea typeface="DM Sans Bold"/>
                <a:cs typeface="DM Sans Bold"/>
                <a:sym typeface="DM Sans Bold"/>
              </a:rPr>
              <a:t>rear</a:t>
            </a:r>
          </a:p>
          <a:p>
            <a:pPr algn="l">
              <a:lnSpc>
                <a:spcPts val="2264"/>
              </a:lnSpc>
            </a:pPr>
            <a:r>
              <a:rPr lang="en-US" sz="1617" b="true">
                <a:solidFill>
                  <a:srgbClr val="2B3552"/>
                </a:solidFill>
                <a:latin typeface="DM Sans Bold"/>
                <a:ea typeface="DM Sans Bold"/>
                <a:cs typeface="DM Sans Bold"/>
                <a:sym typeface="DM Sans Bold"/>
              </a:rPr>
              <a:t>dequeue from </a:t>
            </a:r>
            <a:r>
              <a:rPr lang="en-US" sz="1617" b="true">
                <a:solidFill>
                  <a:srgbClr val="45A8A0"/>
                </a:solidFill>
                <a:latin typeface="DM Sans Bold"/>
                <a:ea typeface="DM Sans Bold"/>
                <a:cs typeface="DM Sans Bold"/>
                <a:sym typeface="DM Sans Bold"/>
              </a:rPr>
              <a:t>front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445598" y="5783021"/>
            <a:ext cx="3270402" cy="3869923"/>
          </a:xfrm>
          <a:custGeom>
            <a:avLst/>
            <a:gdLst/>
            <a:ahLst/>
            <a:cxnLst/>
            <a:rect r="r" b="b" t="t" l="l"/>
            <a:pathLst>
              <a:path h="3869923" w="3270402">
                <a:moveTo>
                  <a:pt x="0" y="0"/>
                </a:moveTo>
                <a:lnTo>
                  <a:pt x="3270402" y="0"/>
                </a:lnTo>
                <a:lnTo>
                  <a:pt x="3270402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445598" y="5783021"/>
            <a:ext cx="3270402" cy="863627"/>
          </a:xfrm>
          <a:custGeom>
            <a:avLst/>
            <a:gdLst/>
            <a:ahLst/>
            <a:cxnLst/>
            <a:rect r="r" b="b" t="t" l="l"/>
            <a:pathLst>
              <a:path h="863627" w="3270402">
                <a:moveTo>
                  <a:pt x="0" y="0"/>
                </a:moveTo>
                <a:lnTo>
                  <a:pt x="3270402" y="0"/>
                </a:lnTo>
                <a:lnTo>
                  <a:pt x="327040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761972" y="6060005"/>
            <a:ext cx="2635504" cy="35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Visited / Discovered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17765" y="7054021"/>
            <a:ext cx="1992652" cy="35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2B3552"/>
                </a:solidFill>
                <a:latin typeface="DM Sans Bold"/>
                <a:ea typeface="DM Sans Bold"/>
                <a:cs typeface="DM Sans Bold"/>
                <a:sym typeface="DM Sans Bold"/>
              </a:rPr>
              <a:t>{ A, B, C, D, E, F 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84252" y="7937131"/>
            <a:ext cx="1980918" cy="65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863" spc="-18">
                <a:solidFill>
                  <a:srgbClr val="2B3552"/>
                </a:solidFill>
                <a:latin typeface="DM Sans Bold"/>
                <a:ea typeface="DM Sans Bold"/>
                <a:cs typeface="DM Sans Bold"/>
                <a:sym typeface="DM Sans Bold"/>
              </a:rPr>
              <a:t>discovered when enqueued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716000" y="5783021"/>
            <a:ext cx="1968804" cy="3869923"/>
          </a:xfrm>
          <a:custGeom>
            <a:avLst/>
            <a:gdLst/>
            <a:ahLst/>
            <a:cxnLst/>
            <a:rect r="r" b="b" t="t" l="l"/>
            <a:pathLst>
              <a:path h="3869923" w="1968804">
                <a:moveTo>
                  <a:pt x="0" y="0"/>
                </a:moveTo>
                <a:lnTo>
                  <a:pt x="1968804" y="0"/>
                </a:lnTo>
                <a:lnTo>
                  <a:pt x="1968804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716000" y="5783021"/>
            <a:ext cx="1968804" cy="863627"/>
          </a:xfrm>
          <a:custGeom>
            <a:avLst/>
            <a:gdLst/>
            <a:ahLst/>
            <a:cxnLst/>
            <a:rect r="r" b="b" t="t" l="l"/>
            <a:pathLst>
              <a:path h="863627" w="1968804">
                <a:moveTo>
                  <a:pt x="0" y="0"/>
                </a:moveTo>
                <a:lnTo>
                  <a:pt x="1968804" y="0"/>
                </a:lnTo>
                <a:lnTo>
                  <a:pt x="196880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360988" y="6060005"/>
            <a:ext cx="853149" cy="35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parent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716000" y="6428009"/>
            <a:ext cx="1968804" cy="3224936"/>
          </a:xfrm>
          <a:custGeom>
            <a:avLst/>
            <a:gdLst/>
            <a:ahLst/>
            <a:cxnLst/>
            <a:rect r="r" b="b" t="t" l="l"/>
            <a:pathLst>
              <a:path h="3224936" w="1968804">
                <a:moveTo>
                  <a:pt x="0" y="0"/>
                </a:moveTo>
                <a:lnTo>
                  <a:pt x="1968804" y="0"/>
                </a:lnTo>
                <a:lnTo>
                  <a:pt x="196880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892622" y="5783021"/>
            <a:ext cx="1968804" cy="3869923"/>
          </a:xfrm>
          <a:custGeom>
            <a:avLst/>
            <a:gdLst/>
            <a:ahLst/>
            <a:cxnLst/>
            <a:rect r="r" b="b" t="t" l="l"/>
            <a:pathLst>
              <a:path h="3869923" w="1968804">
                <a:moveTo>
                  <a:pt x="0" y="0"/>
                </a:moveTo>
                <a:lnTo>
                  <a:pt x="1968804" y="0"/>
                </a:lnTo>
                <a:lnTo>
                  <a:pt x="1968804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892622" y="5783021"/>
            <a:ext cx="1968804" cy="863627"/>
          </a:xfrm>
          <a:custGeom>
            <a:avLst/>
            <a:gdLst/>
            <a:ahLst/>
            <a:cxnLst/>
            <a:rect r="r" b="b" t="t" l="l"/>
            <a:pathLst>
              <a:path h="863627" w="1968804">
                <a:moveTo>
                  <a:pt x="0" y="0"/>
                </a:moveTo>
                <a:lnTo>
                  <a:pt x="1968804" y="0"/>
                </a:lnTo>
                <a:lnTo>
                  <a:pt x="196880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892622" y="6428009"/>
            <a:ext cx="1968804" cy="3224936"/>
          </a:xfrm>
          <a:custGeom>
            <a:avLst/>
            <a:gdLst/>
            <a:ahLst/>
            <a:cxnLst/>
            <a:rect r="r" b="b" t="t" l="l"/>
            <a:pathLst>
              <a:path h="3224936" w="1968804">
                <a:moveTo>
                  <a:pt x="0" y="0"/>
                </a:moveTo>
                <a:lnTo>
                  <a:pt x="1968804" y="0"/>
                </a:lnTo>
                <a:lnTo>
                  <a:pt x="196880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573250" y="1545570"/>
            <a:ext cx="428625" cy="336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9"/>
              </a:lnSpc>
            </a:pPr>
            <a:r>
              <a:rPr lang="en-US" b="true" sz="2254" spc="-2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</a:p>
          <a:p>
            <a:pPr algn="ctr">
              <a:lnSpc>
                <a:spcPts val="4509"/>
              </a:lnSpc>
            </a:pPr>
            <a:r>
              <a:rPr lang="en-US" b="true" sz="2254" spc="-2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</a:t>
            </a:r>
          </a:p>
          <a:p>
            <a:pPr algn="ctr">
              <a:lnSpc>
                <a:spcPts val="4509"/>
              </a:lnSpc>
            </a:pPr>
            <a:r>
              <a:rPr lang="en-US" b="true" sz="2254" spc="-2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</a:p>
          <a:p>
            <a:pPr algn="ctr">
              <a:lnSpc>
                <a:spcPts val="4509"/>
              </a:lnSpc>
            </a:pPr>
            <a:r>
              <a:rPr lang="en-US" b="true" sz="2254" spc="-2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</a:t>
            </a:r>
          </a:p>
          <a:p>
            <a:pPr algn="ctr">
              <a:lnSpc>
                <a:spcPts val="4509"/>
              </a:lnSpc>
            </a:pPr>
            <a:r>
              <a:rPr lang="en-US" b="true" sz="2254" spc="-2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</a:p>
          <a:p>
            <a:pPr algn="ctr">
              <a:lnSpc>
                <a:spcPts val="4509"/>
              </a:lnSpc>
            </a:pPr>
            <a:r>
              <a:rPr lang="en-US" b="true" sz="2254" spc="-2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70484" y="7771461"/>
            <a:ext cx="615365" cy="31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863" spc="-18">
                <a:solidFill>
                  <a:srgbClr val="2B3552"/>
                </a:solidFill>
                <a:latin typeface="DM Sans Bold"/>
                <a:ea typeface="DM Sans Bold"/>
                <a:cs typeface="DM Sans Bold"/>
                <a:sym typeface="DM Sans Bold"/>
              </a:rPr>
              <a:t>Front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80904" y="7771461"/>
            <a:ext cx="523484" cy="31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863" spc="-18">
                <a:solidFill>
                  <a:srgbClr val="2B3552"/>
                </a:solidFill>
                <a:latin typeface="DM Sans Bold"/>
                <a:ea typeface="DM Sans Bold"/>
                <a:cs typeface="DM Sans Bold"/>
                <a:sym typeface="DM Sans Bold"/>
              </a:rPr>
              <a:t>Rear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651686" y="6060005"/>
            <a:ext cx="487816" cy="35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dist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2360" y="682932"/>
            <a:ext cx="7057777" cy="1027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822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BFS Algorithm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924030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2569017"/>
            <a:ext cx="2406316" cy="863627"/>
          </a:xfrm>
          <a:custGeom>
            <a:avLst/>
            <a:gdLst/>
            <a:ahLst/>
            <a:cxnLst/>
            <a:rect r="r" b="b" t="t" l="l"/>
            <a:pathLst>
              <a:path h="863627" w="2406316">
                <a:moveTo>
                  <a:pt x="0" y="0"/>
                </a:moveTo>
                <a:lnTo>
                  <a:pt x="2406316" y="0"/>
                </a:lnTo>
                <a:lnTo>
                  <a:pt x="240631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9874" y="2745217"/>
            <a:ext cx="1602668" cy="4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b="true" sz="2575">
                <a:solidFill>
                  <a:srgbClr val="F0F0F0"/>
                </a:solidFill>
                <a:latin typeface="DM Sans Bold"/>
                <a:ea typeface="DM Sans Bold"/>
                <a:cs typeface="DM Sans Bold"/>
                <a:sym typeface="DM Sans Bold"/>
              </a:rPr>
              <a:t>INITIALIZE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0354" y="3214004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5330" y="3640352"/>
            <a:ext cx="2406316" cy="863627"/>
          </a:xfrm>
          <a:custGeom>
            <a:avLst/>
            <a:gdLst/>
            <a:ahLst/>
            <a:cxnLst/>
            <a:rect r="r" b="b" t="t" l="l"/>
            <a:pathLst>
              <a:path h="863627" w="2406316">
                <a:moveTo>
                  <a:pt x="0" y="0"/>
                </a:moveTo>
                <a:lnTo>
                  <a:pt x="2406316" y="0"/>
                </a:lnTo>
                <a:lnTo>
                  <a:pt x="240631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38301" y="3950085"/>
            <a:ext cx="1545814" cy="4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b="true" sz="2575">
                <a:solidFill>
                  <a:srgbClr val="F0F0F0"/>
                </a:solidFill>
                <a:latin typeface="DM Sans Bold"/>
                <a:ea typeface="DM Sans Bold"/>
                <a:cs typeface="DM Sans Bold"/>
                <a:sym typeface="DM Sans Bold"/>
              </a:rPr>
              <a:t>DEQUEUE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20354" y="4493047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5330" y="4919394"/>
            <a:ext cx="2406316" cy="874559"/>
          </a:xfrm>
          <a:custGeom>
            <a:avLst/>
            <a:gdLst/>
            <a:ahLst/>
            <a:cxnLst/>
            <a:rect r="r" b="b" t="t" l="l"/>
            <a:pathLst>
              <a:path h="874559" w="2406316">
                <a:moveTo>
                  <a:pt x="0" y="0"/>
                </a:moveTo>
                <a:lnTo>
                  <a:pt x="2406316" y="0"/>
                </a:lnTo>
                <a:lnTo>
                  <a:pt x="240631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47632" y="5185074"/>
            <a:ext cx="927152" cy="4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b="true" sz="2575">
                <a:solidFill>
                  <a:srgbClr val="F0F0F0"/>
                </a:solidFill>
                <a:latin typeface="DM Sans Bold"/>
                <a:ea typeface="DM Sans Bold"/>
                <a:cs typeface="DM Sans Bold"/>
                <a:sym typeface="DM Sans Bold"/>
              </a:rPr>
              <a:t>SCAN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20354" y="5564382"/>
            <a:ext cx="448450" cy="874559"/>
          </a:xfrm>
          <a:custGeom>
            <a:avLst/>
            <a:gdLst/>
            <a:ahLst/>
            <a:cxnLst/>
            <a:rect r="r" b="b" t="t" l="l"/>
            <a:pathLst>
              <a:path h="874559" w="448450">
                <a:moveTo>
                  <a:pt x="0" y="0"/>
                </a:moveTo>
                <a:lnTo>
                  <a:pt x="448450" y="0"/>
                </a:lnTo>
                <a:lnTo>
                  <a:pt x="448450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5330" y="6209369"/>
            <a:ext cx="2406316" cy="863627"/>
          </a:xfrm>
          <a:custGeom>
            <a:avLst/>
            <a:gdLst/>
            <a:ahLst/>
            <a:cxnLst/>
            <a:rect r="r" b="b" t="t" l="l"/>
            <a:pathLst>
              <a:path h="863627" w="2406316">
                <a:moveTo>
                  <a:pt x="0" y="0"/>
                </a:moveTo>
                <a:lnTo>
                  <a:pt x="2406316" y="0"/>
                </a:lnTo>
                <a:lnTo>
                  <a:pt x="240631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70178" y="6435123"/>
            <a:ext cx="1682062" cy="4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b="true" sz="2575">
                <a:solidFill>
                  <a:srgbClr val="F0F0F0"/>
                </a:solidFill>
                <a:latin typeface="DM Sans Bold"/>
                <a:ea typeface="DM Sans Bold"/>
                <a:cs typeface="DM Sans Bold"/>
                <a:sym typeface="DM Sans Bold"/>
              </a:rPr>
              <a:t>DISCOVER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20354" y="6854356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45330" y="7499343"/>
            <a:ext cx="2406316" cy="863627"/>
          </a:xfrm>
          <a:custGeom>
            <a:avLst/>
            <a:gdLst/>
            <a:ahLst/>
            <a:cxnLst/>
            <a:rect r="r" b="b" t="t" l="l"/>
            <a:pathLst>
              <a:path h="863627" w="2406316">
                <a:moveTo>
                  <a:pt x="0" y="0"/>
                </a:moveTo>
                <a:lnTo>
                  <a:pt x="2406316" y="0"/>
                </a:lnTo>
                <a:lnTo>
                  <a:pt x="240631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36619" y="7805660"/>
            <a:ext cx="1549179" cy="4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b="true" sz="2575">
                <a:solidFill>
                  <a:srgbClr val="F0F0F0"/>
                </a:solidFill>
                <a:latin typeface="DM Sans Bold"/>
                <a:ea typeface="DM Sans Bold"/>
                <a:cs typeface="DM Sans Bold"/>
                <a:sym typeface="DM Sans Bold"/>
              </a:rPr>
              <a:t>ENQUEUE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20354" y="8352038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45330" y="8997026"/>
            <a:ext cx="2406316" cy="863627"/>
          </a:xfrm>
          <a:custGeom>
            <a:avLst/>
            <a:gdLst/>
            <a:ahLst/>
            <a:cxnLst/>
            <a:rect r="r" b="b" t="t" l="l"/>
            <a:pathLst>
              <a:path h="863627" w="2406316">
                <a:moveTo>
                  <a:pt x="0" y="0"/>
                </a:moveTo>
                <a:lnTo>
                  <a:pt x="2406316" y="0"/>
                </a:lnTo>
                <a:lnTo>
                  <a:pt x="240631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81028" y="9161136"/>
            <a:ext cx="1860360" cy="4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b="true" sz="2575">
                <a:solidFill>
                  <a:srgbClr val="F0F0F0"/>
                </a:solidFill>
                <a:latin typeface="DM Sans Bold"/>
                <a:ea typeface="DM Sans Bold"/>
                <a:cs typeface="DM Sans Bold"/>
                <a:sym typeface="DM Sans Bold"/>
              </a:rPr>
              <a:t>TERMINATE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36156" y="2635707"/>
            <a:ext cx="4848820" cy="73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Mark all vertices undiscovered.</a:t>
            </a:r>
          </a:p>
          <a:p>
            <a:pPr algn="l">
              <a:lnSpc>
                <a:spcPts val="3017"/>
              </a:lnSpc>
            </a:pPr>
            <a:r>
              <a:rPr lang="en-US" sz="2321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Set source distance to 0.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36156" y="3840574"/>
            <a:ext cx="4848820" cy="73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Remove a vertex u from the front</a:t>
            </a:r>
          </a:p>
          <a:p>
            <a:pPr algn="l">
              <a:lnSpc>
                <a:spcPts val="3017"/>
              </a:lnSpc>
            </a:pPr>
            <a:r>
              <a:rPr lang="en-US" sz="2321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of the queue.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36156" y="5060503"/>
            <a:ext cx="4018359" cy="73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Inspect each neighbor v</a:t>
            </a:r>
          </a:p>
          <a:p>
            <a:pPr algn="l">
              <a:lnSpc>
                <a:spcPts val="3017"/>
              </a:lnSpc>
            </a:pPr>
            <a:r>
              <a:rPr lang="en-US" sz="2321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of u.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36156" y="6260444"/>
            <a:ext cx="4018359" cy="107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If v is undiscovered, mark it, set parent[v] = u and dist[v] = dist[u] + 1.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36156" y="7786515"/>
            <a:ext cx="4018359" cy="73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Add v to the back of</a:t>
            </a:r>
          </a:p>
          <a:p>
            <a:pPr algn="l">
              <a:lnSpc>
                <a:spcPts val="3017"/>
              </a:lnSpc>
            </a:pPr>
            <a:r>
              <a:rPr lang="en-US" sz="2321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the queue.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36156" y="8983804"/>
            <a:ext cx="4848820" cy="71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188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When the queue is empty,</a:t>
            </a:r>
          </a:p>
          <a:p>
            <a:pPr algn="l">
              <a:lnSpc>
                <a:spcPts val="2844"/>
              </a:lnSpc>
            </a:pPr>
            <a:r>
              <a:rPr lang="en-US" sz="2188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all reachable vertices are explored.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144000" y="1705390"/>
            <a:ext cx="8717426" cy="8155262"/>
          </a:xfrm>
          <a:custGeom>
            <a:avLst/>
            <a:gdLst/>
            <a:ahLst/>
            <a:cxnLst/>
            <a:rect r="r" b="b" t="t" l="l"/>
            <a:pathLst>
              <a:path h="8155262" w="8717426">
                <a:moveTo>
                  <a:pt x="0" y="0"/>
                </a:moveTo>
                <a:lnTo>
                  <a:pt x="8717426" y="0"/>
                </a:lnTo>
                <a:lnTo>
                  <a:pt x="8717426" y="8155262"/>
                </a:lnTo>
                <a:lnTo>
                  <a:pt x="0" y="815526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571446" y="2233149"/>
            <a:ext cx="1903830" cy="4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b="true" sz="2575" spc="257">
                <a:solidFill>
                  <a:srgbClr val="54A6D1"/>
                </a:solidFill>
                <a:latin typeface="DM Sans Bold"/>
                <a:ea typeface="DM Sans Bold"/>
                <a:cs typeface="DM Sans Bold"/>
                <a:sym typeface="DM Sans Bold"/>
              </a:rPr>
              <a:t>BFS(G,S) 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38742" y="2721771"/>
            <a:ext cx="4018359" cy="1481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b="true">
                <a:solidFill>
                  <a:srgbClr val="46A49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</a:t>
            </a:r>
            <a:r>
              <a:rPr lang="en-US" sz="2188" b="true">
                <a:solidFill>
                  <a:srgbClr val="252F5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each v </a:t>
            </a:r>
            <a:r>
              <a:rPr lang="en-US" sz="2188" b="true">
                <a:solidFill>
                  <a:srgbClr val="46A49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</a:t>
            </a:r>
            <a:r>
              <a:rPr lang="en-US" sz="2188" b="true">
                <a:solidFill>
                  <a:srgbClr val="252F5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V:</a:t>
            </a:r>
          </a:p>
          <a:p>
            <a:pPr algn="l">
              <a:lnSpc>
                <a:spcPts val="3063"/>
              </a:lnSpc>
            </a:pPr>
            <a:r>
              <a:rPr lang="en-US" sz="2188" b="true">
                <a:solidFill>
                  <a:srgbClr val="252F5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visited[v] = </a:t>
            </a:r>
            <a:r>
              <a:rPr lang="en-US" sz="2188" b="true">
                <a:solidFill>
                  <a:srgbClr val="E07A5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false</a:t>
            </a:r>
          </a:p>
          <a:p>
            <a:pPr algn="l">
              <a:lnSpc>
                <a:spcPts val="3063"/>
              </a:lnSpc>
            </a:pPr>
            <a:r>
              <a:rPr lang="en-US" sz="2188" b="true">
                <a:solidFill>
                  <a:srgbClr val="252F5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dist[v] = </a:t>
            </a:r>
            <a:r>
              <a:rPr lang="en-US" sz="2188" b="true">
                <a:solidFill>
                  <a:srgbClr val="E07A5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-1</a:t>
            </a:r>
          </a:p>
          <a:p>
            <a:pPr algn="l">
              <a:lnSpc>
                <a:spcPts val="3063"/>
              </a:lnSpc>
            </a:pPr>
            <a:r>
              <a:rPr lang="en-US" sz="2188">
                <a:solidFill>
                  <a:srgbClr val="252F50"/>
                </a:solidFill>
                <a:latin typeface="Open Sauce"/>
                <a:ea typeface="Open Sauce"/>
                <a:cs typeface="Open Sauce"/>
                <a:sym typeface="Open Sauce"/>
              </a:rPr>
              <a:t>  parent[v] = </a:t>
            </a:r>
            <a:r>
              <a:rPr lang="en-US" sz="2188" b="true">
                <a:solidFill>
                  <a:srgbClr val="E07A5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38742" y="4601545"/>
            <a:ext cx="4018359" cy="11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>
                <a:solidFill>
                  <a:srgbClr val="252F50"/>
                </a:solidFill>
                <a:latin typeface="DM Sans"/>
                <a:ea typeface="DM Sans"/>
                <a:cs typeface="DM Sans"/>
                <a:sym typeface="DM Sans"/>
              </a:rPr>
              <a:t>visited[s] = </a:t>
            </a:r>
            <a:r>
              <a:rPr lang="en-US" sz="2188" b="true">
                <a:solidFill>
                  <a:srgbClr val="E07A51"/>
                </a:solidFill>
                <a:latin typeface="DM Sans Bold"/>
                <a:ea typeface="DM Sans Bold"/>
                <a:cs typeface="DM Sans Bold"/>
                <a:sym typeface="DM Sans Bold"/>
              </a:rPr>
              <a:t>true</a:t>
            </a:r>
          </a:p>
          <a:p>
            <a:pPr algn="l">
              <a:lnSpc>
                <a:spcPts val="3063"/>
              </a:lnSpc>
            </a:pPr>
            <a:r>
              <a:rPr lang="en-US" sz="2188">
                <a:solidFill>
                  <a:srgbClr val="252F50"/>
                </a:solidFill>
                <a:latin typeface="DM Sans"/>
                <a:ea typeface="DM Sans"/>
                <a:cs typeface="DM Sans"/>
                <a:sym typeface="DM Sans"/>
              </a:rPr>
              <a:t>dist[s] = </a:t>
            </a:r>
            <a:r>
              <a:rPr lang="en-US" sz="2188" b="true">
                <a:solidFill>
                  <a:srgbClr val="E07A51"/>
                </a:solidFill>
                <a:latin typeface="DM Sans Bold"/>
                <a:ea typeface="DM Sans Bold"/>
                <a:cs typeface="DM Sans Bold"/>
                <a:sym typeface="DM Sans Bold"/>
              </a:rPr>
              <a:t>0</a:t>
            </a:r>
          </a:p>
          <a:p>
            <a:pPr algn="l">
              <a:lnSpc>
                <a:spcPts val="3063"/>
              </a:lnSpc>
            </a:pPr>
            <a:r>
              <a:rPr lang="en-US" sz="2188">
                <a:solidFill>
                  <a:srgbClr val="252F50"/>
                </a:solidFill>
                <a:latin typeface="DM Sans"/>
                <a:ea typeface="DM Sans"/>
                <a:cs typeface="DM Sans"/>
                <a:sym typeface="DM Sans"/>
              </a:rPr>
              <a:t>enqueue(0, s)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38742" y="6006951"/>
            <a:ext cx="4018359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b="true">
                <a:solidFill>
                  <a:srgbClr val="46A49E"/>
                </a:solidFill>
                <a:latin typeface="DM Sans Bold"/>
                <a:ea typeface="DM Sans Bold"/>
                <a:cs typeface="DM Sans Bold"/>
                <a:sym typeface="DM Sans Bold"/>
              </a:rPr>
              <a:t>while</a:t>
            </a:r>
            <a:r>
              <a:rPr lang="en-US" sz="2254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 Q </a:t>
            </a:r>
            <a:r>
              <a:rPr lang="en-US" sz="2254" b="true">
                <a:solidFill>
                  <a:srgbClr val="46A49E"/>
                </a:solidFill>
                <a:latin typeface="DM Sans Bold"/>
                <a:ea typeface="DM Sans Bold"/>
                <a:cs typeface="DM Sans Bold"/>
                <a:sym typeface="DM Sans Bold"/>
              </a:rPr>
              <a:t>not</a:t>
            </a:r>
            <a:r>
              <a:rPr lang="en-US" sz="2254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254" b="true">
                <a:solidFill>
                  <a:srgbClr val="46A49E"/>
                </a:solidFill>
                <a:latin typeface="DM Sans Bold"/>
                <a:ea typeface="DM Sans Bold"/>
                <a:cs typeface="DM Sans Bold"/>
                <a:sym typeface="DM Sans Bold"/>
              </a:rPr>
              <a:t>empty</a:t>
            </a:r>
            <a:r>
              <a:rPr lang="en-US" sz="2254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</a:p>
          <a:p>
            <a:pPr algn="l">
              <a:lnSpc>
                <a:spcPts val="3156"/>
              </a:lnSpc>
            </a:pPr>
            <a:r>
              <a:rPr lang="en-US" sz="2254" b="true">
                <a:solidFill>
                  <a:srgbClr val="252F50"/>
                </a:solidFill>
                <a:latin typeface="DM Sans Bold"/>
                <a:ea typeface="DM Sans Bold"/>
                <a:cs typeface="DM Sans Bold"/>
                <a:sym typeface="DM Sans Bold"/>
              </a:rPr>
              <a:t>  u = dequeue(0)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69391" y="6961404"/>
            <a:ext cx="4018359" cy="230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5"/>
              </a:lnSpc>
            </a:pPr>
            <a:r>
              <a:rPr lang="en-US" sz="2653">
                <a:solidFill>
                  <a:srgbClr val="252F50"/>
                </a:solidFill>
                <a:latin typeface="Open Sauce"/>
                <a:ea typeface="Open Sauce"/>
                <a:cs typeface="Open Sauce"/>
                <a:sym typeface="Open Sauce"/>
              </a:rPr>
              <a:t>v </a:t>
            </a:r>
            <a:r>
              <a:rPr lang="en-US" sz="2653" b="true">
                <a:solidFill>
                  <a:srgbClr val="46A49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</a:t>
            </a:r>
            <a:r>
              <a:rPr lang="en-US" sz="2653">
                <a:solidFill>
                  <a:srgbClr val="252F50"/>
                </a:solidFill>
                <a:latin typeface="Open Sauce"/>
                <a:ea typeface="Open Sauce"/>
                <a:cs typeface="Open Sauce"/>
                <a:sym typeface="Open Sauce"/>
              </a:rPr>
              <a:t> Adj[u]:</a:t>
            </a:r>
          </a:p>
          <a:p>
            <a:pPr algn="l">
              <a:lnSpc>
                <a:spcPts val="3715"/>
              </a:lnSpc>
            </a:pPr>
            <a:r>
              <a:rPr lang="en-US" sz="2653">
                <a:solidFill>
                  <a:srgbClr val="252F50"/>
                </a:solidFill>
                <a:latin typeface="Open Sauce"/>
                <a:ea typeface="Open Sauce"/>
                <a:cs typeface="Open Sauce"/>
                <a:sym typeface="Open Sauce"/>
              </a:rPr>
              <a:t>visited[v] = </a:t>
            </a:r>
            <a:r>
              <a:rPr lang="en-US" sz="2653" b="true">
                <a:solidFill>
                  <a:srgbClr val="E07A5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true</a:t>
            </a:r>
          </a:p>
          <a:p>
            <a:pPr algn="l">
              <a:lnSpc>
                <a:spcPts val="3715"/>
              </a:lnSpc>
            </a:pPr>
            <a:r>
              <a:rPr lang="en-US" sz="2653">
                <a:solidFill>
                  <a:srgbClr val="252F50"/>
                </a:solidFill>
                <a:latin typeface="Open Sauce"/>
                <a:ea typeface="Open Sauce"/>
                <a:cs typeface="Open Sauce"/>
                <a:sym typeface="Open Sauce"/>
              </a:rPr>
              <a:t>dist[v] = dist[u] + </a:t>
            </a:r>
            <a:r>
              <a:rPr lang="en-US" sz="2653" b="true">
                <a:solidFill>
                  <a:srgbClr val="E07A5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  <a:p>
            <a:pPr algn="l">
              <a:lnSpc>
                <a:spcPts val="3715"/>
              </a:lnSpc>
            </a:pPr>
            <a:r>
              <a:rPr lang="en-US" sz="2653">
                <a:solidFill>
                  <a:srgbClr val="252F50"/>
                </a:solidFill>
                <a:latin typeface="Open Sauce"/>
                <a:ea typeface="Open Sauce"/>
                <a:cs typeface="Open Sauce"/>
                <a:sym typeface="Open Sauce"/>
              </a:rPr>
              <a:t>parent[v] = u</a:t>
            </a:r>
          </a:p>
          <a:p>
            <a:pPr algn="l">
              <a:lnSpc>
                <a:spcPts val="3715"/>
              </a:lnSpc>
            </a:pPr>
            <a:r>
              <a:rPr lang="en-US" sz="2653">
                <a:solidFill>
                  <a:srgbClr val="252F50"/>
                </a:solidFill>
                <a:latin typeface="Open Sauce"/>
                <a:ea typeface="Open Sauce"/>
                <a:cs typeface="Open Sauce"/>
                <a:sym typeface="Open Sauce"/>
              </a:rPr>
              <a:t>enqueue(0, v)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783" y="765501"/>
            <a:ext cx="7478768" cy="91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6935" spc="-67" b="true">
                <a:solidFill>
                  <a:srgbClr val="0D1F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Worked Example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9350" y="1927163"/>
            <a:ext cx="7322032" cy="5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8"/>
              </a:lnSpc>
            </a:pPr>
            <a:r>
              <a:rPr lang="en-US" sz="4258" spc="41" b="true">
                <a:solidFill>
                  <a:srgbClr val="464D6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Trace the Queue by Levels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776725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2613" y="3309705"/>
            <a:ext cx="3995759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18" b="true">
                <a:solidFill>
                  <a:srgbClr val="0D1F52"/>
                </a:solidFill>
                <a:latin typeface="DM Sans Bold"/>
                <a:ea typeface="DM Sans Bold"/>
                <a:cs typeface="DM Sans Bold"/>
                <a:sym typeface="DM Sans Bold"/>
              </a:rPr>
              <a:t>Breadth-First Search starting at 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6574" y="3640352"/>
            <a:ext cx="8290852" cy="863627"/>
          </a:xfrm>
          <a:custGeom>
            <a:avLst/>
            <a:gdLst/>
            <a:ahLst/>
            <a:cxnLst/>
            <a:rect r="r" b="b" t="t" l="l"/>
            <a:pathLst>
              <a:path h="863627" w="8290852">
                <a:moveTo>
                  <a:pt x="0" y="0"/>
                </a:moveTo>
                <a:lnTo>
                  <a:pt x="8290852" y="0"/>
                </a:lnTo>
                <a:lnTo>
                  <a:pt x="829085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92243" y="3912138"/>
            <a:ext cx="1075814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Dequeue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12603" y="3912138"/>
            <a:ext cx="1359766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Discovered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36234" y="3912138"/>
            <a:ext cx="2064732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Queue After Step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4285339"/>
            <a:ext cx="885962" cy="644987"/>
          </a:xfrm>
          <a:custGeom>
            <a:avLst/>
            <a:gdLst/>
            <a:ahLst/>
            <a:cxnLst/>
            <a:rect r="r" b="b" t="t" l="l"/>
            <a:pathLst>
              <a:path h="644987" w="885962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66646" y="4529633"/>
            <a:ext cx="1651682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0D1F52"/>
                </a:solidFill>
                <a:latin typeface="DM Sans Bold"/>
                <a:ea typeface="DM Sans Bold"/>
                <a:cs typeface="DM Sans Bold"/>
                <a:sym typeface="DM Sans Bold"/>
              </a:rPr>
              <a:t>Start at A (L0)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4919394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5330" y="5564382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817609" y="5749784"/>
            <a:ext cx="1101980" cy="2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b="true" sz="2179" spc="-21">
                <a:solidFill>
                  <a:srgbClr val="30A49B"/>
                </a:solidFill>
                <a:latin typeface="DM Sans Bold"/>
                <a:ea typeface="DM Sans Bold"/>
                <a:cs typeface="DM Sans Bold"/>
                <a:sym typeface="DM Sans Bold"/>
              </a:rPr>
              <a:t>[C, D, E]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6209369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839379" y="6367279"/>
            <a:ext cx="1058441" cy="2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b="true" sz="2179" spc="-21">
                <a:solidFill>
                  <a:srgbClr val="30A49B"/>
                </a:solidFill>
                <a:latin typeface="DM Sans Bold"/>
                <a:ea typeface="DM Sans Bold"/>
                <a:cs typeface="DM Sans Bold"/>
                <a:sym typeface="DM Sans Bold"/>
              </a:rPr>
              <a:t>[D, E, F]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45330" y="6854356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30461" y="6920816"/>
            <a:ext cx="508992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43688" y="6905755"/>
            <a:ext cx="1473398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2FA49B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[E, F]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45330" y="7499343"/>
            <a:ext cx="885962" cy="644987"/>
          </a:xfrm>
          <a:custGeom>
            <a:avLst/>
            <a:gdLst/>
            <a:ahLst/>
            <a:cxnLst/>
            <a:rect r="r" b="b" t="t" l="l"/>
            <a:pathLst>
              <a:path h="644987" w="885962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30461" y="7568432"/>
            <a:ext cx="508992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32672" y="7568432"/>
            <a:ext cx="1393031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G (L3)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45330" y="8133399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30461" y="8216049"/>
            <a:ext cx="508992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6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45330" y="8778386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30461" y="8848604"/>
            <a:ext cx="508992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7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925244" y="207708"/>
            <a:ext cx="8936182" cy="6438940"/>
          </a:xfrm>
          <a:custGeom>
            <a:avLst/>
            <a:gdLst/>
            <a:ahLst/>
            <a:cxnLst/>
            <a:rect r="r" b="b" t="t" l="l"/>
            <a:pathLst>
              <a:path h="6438940" w="8936182">
                <a:moveTo>
                  <a:pt x="0" y="0"/>
                </a:moveTo>
                <a:lnTo>
                  <a:pt x="8936182" y="0"/>
                </a:lnTo>
                <a:lnTo>
                  <a:pt x="8936182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483328" y="1119768"/>
            <a:ext cx="1580555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spc="-23" b="true">
                <a:solidFill>
                  <a:srgbClr val="ED6A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Level 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83328" y="5276560"/>
            <a:ext cx="1580555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spc="-23" b="true">
                <a:solidFill>
                  <a:srgbClr val="30A49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Level 3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0883110" y="1279043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883110" y="2569017"/>
            <a:ext cx="6540804" cy="437279"/>
          </a:xfrm>
          <a:custGeom>
            <a:avLst/>
            <a:gdLst/>
            <a:ahLst/>
            <a:cxnLst/>
            <a:rect r="r" b="b" t="t" l="l"/>
            <a:pathLst>
              <a:path h="437279" w="6540804">
                <a:moveTo>
                  <a:pt x="0" y="0"/>
                </a:moveTo>
                <a:lnTo>
                  <a:pt x="6540804" y="0"/>
                </a:lnTo>
                <a:lnTo>
                  <a:pt x="6540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883110" y="4066699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883110" y="5564382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184708" y="1071335"/>
            <a:ext cx="4801694" cy="5148966"/>
          </a:xfrm>
          <a:custGeom>
            <a:avLst/>
            <a:gdLst/>
            <a:ahLst/>
            <a:cxnLst/>
            <a:rect r="r" b="b" t="t" l="l"/>
            <a:pathLst>
              <a:path h="5148966" w="4801694">
                <a:moveTo>
                  <a:pt x="0" y="0"/>
                </a:moveTo>
                <a:lnTo>
                  <a:pt x="4801694" y="0"/>
                </a:lnTo>
                <a:lnTo>
                  <a:pt x="4801694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8925244" y="6635716"/>
            <a:ext cx="3707914" cy="3443576"/>
          </a:xfrm>
          <a:custGeom>
            <a:avLst/>
            <a:gdLst/>
            <a:ahLst/>
            <a:cxnLst/>
            <a:rect r="r" b="b" t="t" l="l"/>
            <a:pathLst>
              <a:path h="3443576" w="3707914">
                <a:moveTo>
                  <a:pt x="0" y="0"/>
                </a:moveTo>
                <a:lnTo>
                  <a:pt x="3707914" y="0"/>
                </a:lnTo>
                <a:lnTo>
                  <a:pt x="3707914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349154" y="7010106"/>
            <a:ext cx="2701811" cy="52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2970" spc="-73" b="true">
                <a:solidFill>
                  <a:srgbClr val="2FA49B"/>
                </a:solidFill>
                <a:latin typeface="DM Sans Bold"/>
                <a:ea typeface="DM Sans Bold"/>
                <a:cs typeface="DM Sans Bold"/>
                <a:sym typeface="DM Sans Bold"/>
              </a:rPr>
              <a:t>BFS Visit Order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46654" y="7552297"/>
            <a:ext cx="2951774" cy="52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b="true" sz="2970" spc="-73">
                <a:solidFill>
                  <a:srgbClr val="2FA49B"/>
                </a:solidFill>
                <a:latin typeface="DM Sans Bold"/>
                <a:ea typeface="DM Sans Bold"/>
                <a:cs typeface="DM Sans Bold"/>
                <a:sym typeface="DM Sans Bold"/>
              </a:rPr>
              <a:t>A, B, C, D, E, F, 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350542" y="8373337"/>
            <a:ext cx="2562989" cy="623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43" b="true">
                <a:solidFill>
                  <a:srgbClr val="0D2052"/>
                </a:solidFill>
                <a:latin typeface="DM Sans Bold"/>
                <a:ea typeface="DM Sans Bold"/>
                <a:cs typeface="DM Sans Bold"/>
                <a:sym typeface="DM Sans Bold"/>
              </a:rPr>
              <a:t>neighbors considered in the listed order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2622220" y="6635716"/>
            <a:ext cx="5239206" cy="3443576"/>
          </a:xfrm>
          <a:custGeom>
            <a:avLst/>
            <a:gdLst/>
            <a:ahLst/>
            <a:cxnLst/>
            <a:rect r="r" b="b" t="t" l="l"/>
            <a:pathLst>
              <a:path h="3443576" w="5239206">
                <a:moveTo>
                  <a:pt x="0" y="0"/>
                </a:moveTo>
                <a:lnTo>
                  <a:pt x="5239206" y="0"/>
                </a:lnTo>
                <a:lnTo>
                  <a:pt x="523920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168753" y="6964924"/>
            <a:ext cx="1146586" cy="52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2970" spc="-73" b="true">
                <a:solidFill>
                  <a:srgbClr val="2FA49B"/>
                </a:solidFill>
                <a:latin typeface="DM Sans Bold"/>
                <a:ea typeface="DM Sans Bold"/>
                <a:cs typeface="DM Sans Bold"/>
                <a:sym typeface="DM Sans Bold"/>
              </a:rPr>
              <a:t>Levels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832336" y="6965999"/>
            <a:ext cx="1955602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spc="-54" b="true">
                <a:solidFill>
                  <a:srgbClr val="2FA49B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Parent Links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832336" y="7432885"/>
            <a:ext cx="1125141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B ← 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832336" y="7809406"/>
            <a:ext cx="1125141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 ← 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832336" y="8200988"/>
            <a:ext cx="1125141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 ← B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832336" y="8592570"/>
            <a:ext cx="1125141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 ← B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832336" y="8999212"/>
            <a:ext cx="1125141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 ← C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832336" y="9375733"/>
            <a:ext cx="1125141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G ← E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5236354" y="7062064"/>
            <a:ext cx="229694" cy="2798589"/>
          </a:xfrm>
          <a:custGeom>
            <a:avLst/>
            <a:gdLst/>
            <a:ahLst/>
            <a:cxnLst/>
            <a:rect r="r" b="b" t="t" l="l"/>
            <a:pathLst>
              <a:path h="2798589" w="229694">
                <a:moveTo>
                  <a:pt x="0" y="0"/>
                </a:moveTo>
                <a:lnTo>
                  <a:pt x="229694" y="0"/>
                </a:lnTo>
                <a:lnTo>
                  <a:pt x="229694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9472637" y="1502627"/>
            <a:ext cx="1069137" cy="19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15" b="true">
                <a:solidFill>
                  <a:srgbClr val="0D1F52"/>
                </a:solidFill>
                <a:latin typeface="DM Sans Bold"/>
                <a:ea typeface="DM Sans Bold"/>
                <a:cs typeface="DM Sans Bold"/>
                <a:sym typeface="DM Sans Bold"/>
              </a:rPr>
              <a:t>distance 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483328" y="2460183"/>
            <a:ext cx="1580555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spc="-23" b="true">
                <a:solidFill>
                  <a:srgbClr val="30A49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Level 1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473164" y="2843042"/>
            <a:ext cx="1016431" cy="19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15" b="true">
                <a:solidFill>
                  <a:srgbClr val="0D1F52"/>
                </a:solidFill>
                <a:latin typeface="DM Sans Bold"/>
                <a:ea typeface="DM Sans Bold"/>
                <a:cs typeface="DM Sans Bold"/>
                <a:sym typeface="DM Sans Bold"/>
              </a:rPr>
              <a:t>distance 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483328" y="3845780"/>
            <a:ext cx="1580555" cy="29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spc="-23" b="true">
                <a:solidFill>
                  <a:srgbClr val="30A49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Level 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25398" y="3912138"/>
            <a:ext cx="550728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Step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472724" y="4243700"/>
            <a:ext cx="1060388" cy="19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15" b="true">
                <a:solidFill>
                  <a:srgbClr val="0D1F52"/>
                </a:solidFill>
                <a:latin typeface="DM Sans Bold"/>
                <a:ea typeface="DM Sans Bold"/>
                <a:cs typeface="DM Sans Bold"/>
                <a:sym typeface="DM Sans Bold"/>
              </a:rPr>
              <a:t>distance 2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85353" y="4514795"/>
            <a:ext cx="187957" cy="2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b="true" sz="2179" spc="-2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509278" y="4514572"/>
            <a:ext cx="252460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0D1F52"/>
                </a:solidFill>
                <a:latin typeface="DM Sans Bold"/>
                <a:ea typeface="DM Sans Bold"/>
                <a:cs typeface="DM Sans Bold"/>
                <a:sym typeface="DM Sans Bold"/>
              </a:rPr>
              <a:t>—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162645" y="4514795"/>
            <a:ext cx="411909" cy="2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b="true" sz="2179" spc="-21">
                <a:solidFill>
                  <a:srgbClr val="30A49B"/>
                </a:solidFill>
                <a:latin typeface="DM Sans Bold"/>
                <a:ea typeface="DM Sans Bold"/>
                <a:cs typeface="DM Sans Bold"/>
                <a:sym typeface="DM Sans Bold"/>
              </a:rPr>
              <a:t>[A]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989842" y="5117229"/>
            <a:ext cx="757514" cy="2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b="true" sz="2179" spc="-21">
                <a:solidFill>
                  <a:srgbClr val="30A49B"/>
                </a:solidFill>
                <a:latin typeface="DM Sans Bold"/>
                <a:ea typeface="DM Sans Bold"/>
                <a:cs typeface="DM Sans Bold"/>
                <a:sym typeface="DM Sans Bold"/>
              </a:rPr>
              <a:t>[B, C]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20497" y="5147351"/>
            <a:ext cx="117668" cy="2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b="true" sz="2179" spc="-2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544944" y="5147127"/>
            <a:ext cx="181128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0D1F52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167480" y="5147127"/>
            <a:ext cx="1450013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0D1F52"/>
                </a:solidFill>
                <a:latin typeface="DM Sans Bold"/>
                <a:ea typeface="DM Sans Bold"/>
                <a:cs typeface="DM Sans Bold"/>
                <a:sym typeface="DM Sans Bold"/>
              </a:rPr>
              <a:t>B (L1), C (L1)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472689" y="5674480"/>
            <a:ext cx="1063909" cy="19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15" b="true">
                <a:solidFill>
                  <a:srgbClr val="0D1F52"/>
                </a:solidFill>
                <a:latin typeface="DM Sans Bold"/>
                <a:ea typeface="DM Sans Bold"/>
                <a:cs typeface="DM Sans Bold"/>
                <a:sym typeface="DM Sans Bold"/>
              </a:rPr>
              <a:t>distance 3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91187" y="5779906"/>
            <a:ext cx="176289" cy="2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b="true" sz="2179" spc="-2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553222" y="5779683"/>
            <a:ext cx="164572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0D1F52"/>
                </a:solidFill>
                <a:latin typeface="DM Sans Bold"/>
                <a:ea typeface="DM Sans Bold"/>
                <a:cs typeface="DM Sans Bold"/>
                <a:sym typeface="DM Sans Bold"/>
              </a:rPr>
              <a:t>B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124967" y="5779683"/>
            <a:ext cx="1535038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0D1F52"/>
                </a:solidFill>
                <a:latin typeface="DM Sans Bold"/>
                <a:ea typeface="DM Sans Bold"/>
                <a:cs typeface="DM Sans Bold"/>
                <a:sym typeface="DM Sans Bold"/>
              </a:rPr>
              <a:t>D (L2), E (L2)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88839" y="6397400"/>
            <a:ext cx="180985" cy="2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b="true" sz="2179" spc="-2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543201" y="6397177"/>
            <a:ext cx="184614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0D1F52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551955" y="6397177"/>
            <a:ext cx="681064" cy="24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18">
                <a:solidFill>
                  <a:srgbClr val="0D1F52"/>
                </a:solidFill>
                <a:latin typeface="DM Sans Bold"/>
                <a:ea typeface="DM Sans Bold"/>
                <a:cs typeface="DM Sans Bold"/>
                <a:sym typeface="DM Sans Bold"/>
              </a:rPr>
              <a:t>F (L2)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232672" y="6905755"/>
            <a:ext cx="1393031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–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196703" y="6935877"/>
            <a:ext cx="884039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643688" y="7553372"/>
            <a:ext cx="1473398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2FA49B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[F, G]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196703" y="7568432"/>
            <a:ext cx="884039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180219" y="7568432"/>
            <a:ext cx="1955602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b="true" sz="2188" spc="-54">
                <a:solidFill>
                  <a:srgbClr val="2FA49B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L0 = </a:t>
            </a: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{A}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180219" y="8035318"/>
            <a:ext cx="1955602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b="true" sz="2188" spc="-54">
                <a:solidFill>
                  <a:srgbClr val="2FA49B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L1 = </a:t>
            </a: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{B, C}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232672" y="8185927"/>
            <a:ext cx="1393031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–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6643688" y="8185927"/>
            <a:ext cx="1473398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2FA49B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[G]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196703" y="8216049"/>
            <a:ext cx="884039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180219" y="8472083"/>
            <a:ext cx="1955602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b="true" sz="2188" spc="-54">
                <a:solidFill>
                  <a:srgbClr val="2FA49B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L2 = </a:t>
            </a: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{D, E, F}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232672" y="8818482"/>
            <a:ext cx="1393031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–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6643688" y="8818482"/>
            <a:ext cx="1473398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2FA49B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[]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2196703" y="8848604"/>
            <a:ext cx="884039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G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3180219" y="8908847"/>
            <a:ext cx="1955602" cy="38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b="true" sz="2188" spc="-54">
                <a:solidFill>
                  <a:srgbClr val="2FA49B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L3 = </a:t>
            </a:r>
            <a:r>
              <a:rPr lang="en-US" b="true" sz="2188" spc="-54">
                <a:solidFill>
                  <a:srgbClr val="0D205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{G}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8568" y="718955"/>
            <a:ext cx="9400271" cy="192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5"/>
              </a:lnSpc>
            </a:pPr>
            <a:r>
              <a:rPr lang="en-US" sz="6395" spc="-62" b="true">
                <a:solidFill>
                  <a:srgbClr val="23325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Shortest Paths and Reconstructing a Route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776725"/>
            <a:ext cx="1104718" cy="448211"/>
          </a:xfrm>
          <a:custGeom>
            <a:avLst/>
            <a:gdLst/>
            <a:ahLst/>
            <a:cxnLst/>
            <a:rect r="r" b="b" t="t" l="l"/>
            <a:pathLst>
              <a:path h="448211" w="1104718">
                <a:moveTo>
                  <a:pt x="0" y="0"/>
                </a:moveTo>
                <a:lnTo>
                  <a:pt x="1104718" y="0"/>
                </a:lnTo>
                <a:lnTo>
                  <a:pt x="110471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9163" y="3604475"/>
            <a:ext cx="5340765" cy="76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20" b="true">
                <a:solidFill>
                  <a:srgbClr val="23325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BFS discovers vertices in </a:t>
            </a:r>
            <a:r>
              <a:rPr lang="en-US" sz="2109" spc="-20" b="true">
                <a:solidFill>
                  <a:srgbClr val="319F9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nondecreasing distance order.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7942" y="4884647"/>
            <a:ext cx="5462849" cy="76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20" b="true">
                <a:solidFill>
                  <a:srgbClr val="23325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first time a vertex is found gives the </a:t>
            </a:r>
            <a:r>
              <a:rPr lang="en-US" sz="2109" spc="-20" b="true">
                <a:solidFill>
                  <a:srgbClr val="319F9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fewest number of edges</a:t>
            </a:r>
            <a:r>
              <a:rPr lang="en-US" sz="2109" spc="-20" b="true">
                <a:solidFill>
                  <a:srgbClr val="23325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from the source.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0556" y="6109636"/>
            <a:ext cx="5201457" cy="40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271" spc="-22" b="true">
                <a:solidFill>
                  <a:srgbClr val="23325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Shortest path </a:t>
            </a:r>
            <a:r>
              <a:rPr lang="en-US" sz="2271" spc="-22" b="true">
                <a:solidFill>
                  <a:srgbClr val="319F9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to G:</a:t>
            </a:r>
            <a:r>
              <a:rPr lang="en-US" sz="2271" spc="-22" b="true">
                <a:solidFill>
                  <a:srgbClr val="23325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71" spc="-22" b="true">
                <a:solidFill>
                  <a:srgbClr val="E16F4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→ B → E → 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1036" y="6993165"/>
            <a:ext cx="7153465" cy="76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20" b="true">
                <a:solidFill>
                  <a:srgbClr val="23325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Reconstruct the route by </a:t>
            </a:r>
            <a:r>
              <a:rPr lang="en-US" sz="2109" spc="-20" b="true">
                <a:solidFill>
                  <a:srgbClr val="319F9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following parent pointers</a:t>
            </a:r>
            <a:r>
              <a:rPr lang="en-US" sz="2109" spc="-20" b="true">
                <a:solidFill>
                  <a:srgbClr val="23325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from the destination back to the source, then reverse.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2832" y="8258275"/>
            <a:ext cx="5973866" cy="76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20" b="true">
                <a:solidFill>
                  <a:srgbClr val="23325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BFS minimizes the </a:t>
            </a:r>
            <a:r>
              <a:rPr lang="en-US" sz="2109" spc="-20" b="true">
                <a:solidFill>
                  <a:srgbClr val="E16F4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number of edges</a:t>
            </a:r>
            <a:r>
              <a:rPr lang="en-US" sz="2109" spc="-20" b="true">
                <a:solidFill>
                  <a:srgbClr val="23325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not total</a:t>
            </a:r>
          </a:p>
          <a:p>
            <a:pPr algn="l">
              <a:lnSpc>
                <a:spcPts val="3164"/>
              </a:lnSpc>
            </a:pPr>
            <a:r>
              <a:rPr lang="en-US" sz="2109" spc="-20" b="true">
                <a:solidFill>
                  <a:srgbClr val="23325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travel cost with weighted edges.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831464" y="2776725"/>
            <a:ext cx="10029962" cy="7083928"/>
          </a:xfrm>
          <a:custGeom>
            <a:avLst/>
            <a:gdLst/>
            <a:ahLst/>
            <a:cxnLst/>
            <a:rect r="r" b="b" t="t" l="l"/>
            <a:pathLst>
              <a:path h="7083928" w="10029962">
                <a:moveTo>
                  <a:pt x="0" y="0"/>
                </a:moveTo>
                <a:lnTo>
                  <a:pt x="10029962" y="0"/>
                </a:lnTo>
                <a:lnTo>
                  <a:pt x="10029962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87732" y="3421712"/>
            <a:ext cx="4364182" cy="5159898"/>
          </a:xfrm>
          <a:custGeom>
            <a:avLst/>
            <a:gdLst/>
            <a:ahLst/>
            <a:cxnLst/>
            <a:rect r="r" b="b" t="t" l="l"/>
            <a:pathLst>
              <a:path h="5159898" w="4364182">
                <a:moveTo>
                  <a:pt x="0" y="0"/>
                </a:moveTo>
                <a:lnTo>
                  <a:pt x="4364182" y="0"/>
                </a:lnTo>
                <a:lnTo>
                  <a:pt x="4364182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278488" y="3214004"/>
            <a:ext cx="229694" cy="6438940"/>
          </a:xfrm>
          <a:custGeom>
            <a:avLst/>
            <a:gdLst/>
            <a:ahLst/>
            <a:cxnLst/>
            <a:rect r="r" b="b" t="t" l="l"/>
            <a:pathLst>
              <a:path h="6438940" w="229694">
                <a:moveTo>
                  <a:pt x="0" y="0"/>
                </a:moveTo>
                <a:lnTo>
                  <a:pt x="229694" y="0"/>
                </a:lnTo>
                <a:lnTo>
                  <a:pt x="229694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118989" y="3177124"/>
            <a:ext cx="802681" cy="33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18" b="true">
                <a:solidFill>
                  <a:srgbClr val="233256"/>
                </a:solidFill>
                <a:latin typeface="DM Sans Bold"/>
                <a:ea typeface="DM Sans Bold"/>
                <a:cs typeface="DM Sans Bold"/>
                <a:sym typeface="DM Sans Bold"/>
              </a:rPr>
              <a:t>Parent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142574" y="3421712"/>
            <a:ext cx="3500096" cy="229572"/>
          </a:xfrm>
          <a:custGeom>
            <a:avLst/>
            <a:gdLst/>
            <a:ahLst/>
            <a:cxnLst/>
            <a:rect r="r" b="b" t="t" l="l"/>
            <a:pathLst>
              <a:path h="229572" w="3500096">
                <a:moveTo>
                  <a:pt x="0" y="0"/>
                </a:moveTo>
                <a:lnTo>
                  <a:pt x="3500096" y="0"/>
                </a:lnTo>
                <a:lnTo>
                  <a:pt x="3500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497244" y="6854356"/>
            <a:ext cx="4145426" cy="218640"/>
          </a:xfrm>
          <a:custGeom>
            <a:avLst/>
            <a:gdLst/>
            <a:ahLst/>
            <a:cxnLst/>
            <a:rect r="r" b="b" t="t" l="l"/>
            <a:pathLst>
              <a:path h="218640" w="4145426">
                <a:moveTo>
                  <a:pt x="0" y="0"/>
                </a:moveTo>
                <a:lnTo>
                  <a:pt x="4145426" y="0"/>
                </a:lnTo>
                <a:lnTo>
                  <a:pt x="414542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497244" y="7062064"/>
            <a:ext cx="4145426" cy="2590881"/>
          </a:xfrm>
          <a:custGeom>
            <a:avLst/>
            <a:gdLst/>
            <a:ahLst/>
            <a:cxnLst/>
            <a:rect r="r" b="b" t="t" l="l"/>
            <a:pathLst>
              <a:path h="2590881" w="4145426">
                <a:moveTo>
                  <a:pt x="0" y="0"/>
                </a:moveTo>
                <a:lnTo>
                  <a:pt x="4145426" y="0"/>
                </a:lnTo>
                <a:lnTo>
                  <a:pt x="4145426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716000" y="8778386"/>
            <a:ext cx="3707914" cy="229572"/>
          </a:xfrm>
          <a:custGeom>
            <a:avLst/>
            <a:gdLst/>
            <a:ahLst/>
            <a:cxnLst/>
            <a:rect r="r" b="b" t="t" l="l"/>
            <a:pathLst>
              <a:path h="229572" w="3707914">
                <a:moveTo>
                  <a:pt x="0" y="0"/>
                </a:moveTo>
                <a:lnTo>
                  <a:pt x="3707914" y="0"/>
                </a:lnTo>
                <a:lnTo>
                  <a:pt x="370791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845544" y="7861045"/>
            <a:ext cx="3119057" cy="33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18" b="true">
                <a:solidFill>
                  <a:srgbClr val="FFFFFF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Start at G:  G ← E ← B ← 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27794" y="8282749"/>
            <a:ext cx="2930729" cy="33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18" b="true">
                <a:solidFill>
                  <a:srgbClr val="FFFFFF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Reverse:  </a:t>
            </a:r>
            <a:r>
              <a:rPr lang="en-US" sz="1916" spc="-18" b="true">
                <a:solidFill>
                  <a:srgbClr val="E16F47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A → B → E → 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27209" y="3725575"/>
            <a:ext cx="203906" cy="29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319F9F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</a:p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319F9F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B</a:t>
            </a:r>
          </a:p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319F9F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</a:p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319F9F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</a:p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319F9F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</a:p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319F9F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F</a:t>
            </a:r>
          </a:p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319F9F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G</a:t>
            </a:r>
          </a:p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319F9F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00096" y="3725575"/>
            <a:ext cx="194288" cy="29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233256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–</a:t>
            </a:r>
          </a:p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233256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</a:p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233256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</a:p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233256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B</a:t>
            </a:r>
          </a:p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233256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B</a:t>
            </a:r>
          </a:p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233256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</a:p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233256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</a:p>
          <a:p>
            <a:pPr algn="ctr">
              <a:lnSpc>
                <a:spcPts val="3071"/>
              </a:lnSpc>
            </a:pPr>
            <a:r>
              <a:rPr lang="en-US" b="true" sz="2047" spc="-19">
                <a:solidFill>
                  <a:srgbClr val="233256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50808" y="7303794"/>
            <a:ext cx="2592605" cy="33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18" b="true">
                <a:solidFill>
                  <a:srgbClr val="FFFFFF">
                    <a:alpha val="7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     Reconstruct A → 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50742" y="3177124"/>
            <a:ext cx="819508" cy="33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18" b="true">
                <a:solidFill>
                  <a:srgbClr val="319F9F"/>
                </a:solidFill>
                <a:latin typeface="DM Sans Bold"/>
                <a:ea typeface="DM Sans Bold"/>
                <a:cs typeface="DM Sans Bold"/>
                <a:sym typeface="DM Sans Bold"/>
              </a:rPr>
              <a:t>Vertex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7319" y="784371"/>
            <a:ext cx="7204024" cy="180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5"/>
              </a:lnSpc>
            </a:pPr>
            <a:r>
              <a:rPr lang="en-US" sz="6287" spc="-125" b="true">
                <a:solidFill>
                  <a:srgbClr val="26305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Time and</a:t>
            </a:r>
          </a:p>
          <a:p>
            <a:pPr algn="l">
              <a:lnSpc>
                <a:spcPts val="7165"/>
              </a:lnSpc>
            </a:pPr>
            <a:r>
              <a:rPr lang="en-US" sz="6287" spc="-125" b="true">
                <a:solidFill>
                  <a:srgbClr val="26305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Space Complexity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776725"/>
            <a:ext cx="1104718" cy="448211"/>
          </a:xfrm>
          <a:custGeom>
            <a:avLst/>
            <a:gdLst/>
            <a:ahLst/>
            <a:cxnLst/>
            <a:rect r="r" b="b" t="t" l="l"/>
            <a:pathLst>
              <a:path h="448211" w="1104718">
                <a:moveTo>
                  <a:pt x="0" y="0"/>
                </a:moveTo>
                <a:lnTo>
                  <a:pt x="1104718" y="0"/>
                </a:lnTo>
                <a:lnTo>
                  <a:pt x="110471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1902" y="3580754"/>
            <a:ext cx="6745712" cy="141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623" b="true">
                <a:solidFill>
                  <a:srgbClr val="263051"/>
                </a:solidFill>
                <a:latin typeface="DM Sans Bold"/>
                <a:ea typeface="DM Sans Bold"/>
                <a:cs typeface="DM Sans Bold"/>
                <a:sym typeface="DM Sans Bold"/>
              </a:rPr>
              <a:t>BFS runs in </a:t>
            </a:r>
            <a:r>
              <a:rPr lang="en-US" sz="2623" b="true">
                <a:solidFill>
                  <a:srgbClr val="44A4A0"/>
                </a:solidFill>
                <a:latin typeface="DM Sans Bold"/>
                <a:ea typeface="DM Sans Bold"/>
                <a:cs typeface="DM Sans Bold"/>
                <a:sym typeface="DM Sans Bold"/>
              </a:rPr>
              <a:t>linear time</a:t>
            </a:r>
          </a:p>
          <a:p>
            <a:pPr algn="l">
              <a:lnSpc>
                <a:spcPts val="3935"/>
              </a:lnSpc>
            </a:pPr>
            <a:r>
              <a:rPr lang="en-US" sz="2623" b="true">
                <a:solidFill>
                  <a:srgbClr val="263051"/>
                </a:solidFill>
                <a:latin typeface="DM Sans Bold"/>
                <a:ea typeface="DM Sans Bold"/>
                <a:cs typeface="DM Sans Bold"/>
                <a:sym typeface="DM Sans Bold"/>
              </a:rPr>
              <a:t>with adjacency lists, and </a:t>
            </a:r>
            <a:r>
              <a:rPr lang="en-US" sz="2623" b="true">
                <a:solidFill>
                  <a:srgbClr val="44A4A0"/>
                </a:solidFill>
                <a:latin typeface="DM Sans Bold"/>
                <a:ea typeface="DM Sans Bold"/>
                <a:cs typeface="DM Sans Bold"/>
                <a:sym typeface="DM Sans Bold"/>
              </a:rPr>
              <a:t>quadratic time</a:t>
            </a:r>
          </a:p>
          <a:p>
            <a:pPr algn="l">
              <a:lnSpc>
                <a:spcPts val="3935"/>
              </a:lnSpc>
            </a:pPr>
            <a:r>
              <a:rPr lang="en-US" sz="2623" b="true">
                <a:solidFill>
                  <a:srgbClr val="263051"/>
                </a:solidFill>
                <a:latin typeface="DM Sans Bold"/>
                <a:ea typeface="DM Sans Bold"/>
                <a:cs typeface="DM Sans Bold"/>
                <a:sym typeface="DM Sans Bold"/>
              </a:rPr>
              <a:t>with adjacency matrices.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8642" y="5437897"/>
            <a:ext cx="5071767" cy="76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b="true">
                <a:solidFill>
                  <a:srgbClr val="263051"/>
                </a:solidFill>
                <a:latin typeface="DM Sans Bold"/>
                <a:ea typeface="DM Sans Bold"/>
                <a:cs typeface="DM Sans Bold"/>
                <a:sym typeface="DM Sans Bold"/>
              </a:rPr>
              <a:t>It uses linear extra space for the queue</a:t>
            </a:r>
          </a:p>
          <a:p>
            <a:pPr algn="l">
              <a:lnSpc>
                <a:spcPts val="3177"/>
              </a:lnSpc>
            </a:pPr>
            <a:r>
              <a:rPr lang="en-US" sz="1986" b="true">
                <a:solidFill>
                  <a:srgbClr val="263051"/>
                </a:solidFill>
                <a:latin typeface="DM Sans Bold"/>
                <a:ea typeface="DM Sans Bold"/>
                <a:cs typeface="DM Sans Bold"/>
                <a:sym typeface="DM Sans Bold"/>
              </a:rPr>
              <a:t>and bookkeeping arrays.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0079" y="6657156"/>
            <a:ext cx="5928038" cy="1203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047" b="true">
                <a:solidFill>
                  <a:srgbClr val="263051"/>
                </a:solidFill>
                <a:latin typeface="DM Sans Bold"/>
                <a:ea typeface="DM Sans Bold"/>
                <a:cs typeface="DM Sans Bold"/>
                <a:sym typeface="DM Sans Bold"/>
              </a:rPr>
              <a:t>To visit all vertices in a disconnected graph, start BFS from each unvisited vertex.</a:t>
            </a:r>
          </a:p>
          <a:p>
            <a:pPr algn="l">
              <a:lnSpc>
                <a:spcPts val="3275"/>
              </a:lnSpc>
            </a:pPr>
            <a:r>
              <a:rPr lang="en-US" sz="2047" b="true">
                <a:solidFill>
                  <a:srgbClr val="263051"/>
                </a:solidFill>
                <a:latin typeface="DM Sans Bold"/>
                <a:ea typeface="DM Sans Bold"/>
                <a:cs typeface="DM Sans Bold"/>
                <a:sym typeface="DM Sans Bold"/>
              </a:rPr>
              <a:t>Sparse graphs benefit from adjacency lists.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487732" y="426348"/>
            <a:ext cx="9373694" cy="5575313"/>
          </a:xfrm>
          <a:custGeom>
            <a:avLst/>
            <a:gdLst/>
            <a:ahLst/>
            <a:cxnLst/>
            <a:rect r="r" b="b" t="t" l="l"/>
            <a:pathLst>
              <a:path h="5575313" w="9373694">
                <a:moveTo>
                  <a:pt x="0" y="0"/>
                </a:moveTo>
                <a:lnTo>
                  <a:pt x="9373694" y="0"/>
                </a:lnTo>
                <a:lnTo>
                  <a:pt x="9373694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93641" y="924081"/>
            <a:ext cx="2179656" cy="308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b="true" sz="1740" spc="34">
                <a:solidFill>
                  <a:srgbClr val="263051"/>
                </a:solidFill>
                <a:latin typeface="DM Sans Bold"/>
                <a:ea typeface="DM Sans Bold"/>
                <a:cs typeface="DM Sans Bold"/>
                <a:sym typeface="DM Sans Bold"/>
              </a:rPr>
              <a:t>ADJACENCY LISTS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925244" y="1279043"/>
            <a:ext cx="8717426" cy="437279"/>
          </a:xfrm>
          <a:custGeom>
            <a:avLst/>
            <a:gdLst/>
            <a:ahLst/>
            <a:cxnLst/>
            <a:rect r="r" b="b" t="t" l="l"/>
            <a:pathLst>
              <a:path h="437279" w="8717426">
                <a:moveTo>
                  <a:pt x="0" y="0"/>
                </a:moveTo>
                <a:lnTo>
                  <a:pt x="8717426" y="0"/>
                </a:lnTo>
                <a:lnTo>
                  <a:pt x="871742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90466" y="1989439"/>
            <a:ext cx="2497150" cy="7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9"/>
              </a:lnSpc>
            </a:pPr>
            <a:r>
              <a:rPr lang="en-US" sz="4877" b="true">
                <a:solidFill>
                  <a:srgbClr val="44A4A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O(V + 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10312" y="2967919"/>
            <a:ext cx="3191492" cy="233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b="true">
                <a:solidFill>
                  <a:srgbClr val="263051"/>
                </a:solidFill>
                <a:latin typeface="DM Sans Bold"/>
                <a:ea typeface="DM Sans Bold"/>
                <a:cs typeface="DM Sans Bold"/>
                <a:sym typeface="DM Sans Bold"/>
              </a:rPr>
              <a:t>Each vertex is enqueued at most once.</a:t>
            </a:r>
          </a:p>
          <a:p>
            <a:pPr algn="l">
              <a:lnSpc>
                <a:spcPts val="3177"/>
              </a:lnSpc>
            </a:pPr>
            <a:r>
              <a:rPr lang="en-US" sz="1986" b="true">
                <a:solidFill>
                  <a:srgbClr val="263051"/>
                </a:solidFill>
                <a:latin typeface="DM Sans Bold"/>
                <a:ea typeface="DM Sans Bold"/>
                <a:cs typeface="DM Sans Bold"/>
                <a:sym typeface="DM Sans Bold"/>
              </a:rPr>
              <a:t>Each edge is examined</a:t>
            </a:r>
          </a:p>
          <a:p>
            <a:pPr algn="l">
              <a:lnSpc>
                <a:spcPts val="3177"/>
              </a:lnSpc>
            </a:pPr>
            <a:r>
              <a:rPr lang="en-US" sz="1986" b="true">
                <a:solidFill>
                  <a:srgbClr val="263051"/>
                </a:solidFill>
                <a:latin typeface="DM Sans Bold"/>
                <a:ea typeface="DM Sans Bold"/>
                <a:cs typeface="DM Sans Bold"/>
                <a:sym typeface="DM Sans Bold"/>
              </a:rPr>
              <a:t>at most once (or twice in an undirected adjacency list).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49165" y="924081"/>
            <a:ext cx="2756913" cy="308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b="true" sz="1740" spc="34">
                <a:solidFill>
                  <a:srgbClr val="263051"/>
                </a:solidFill>
                <a:latin typeface="DM Sans Bold"/>
                <a:ea typeface="DM Sans Bold"/>
                <a:cs typeface="DM Sans Bold"/>
                <a:sym typeface="DM Sans Bold"/>
              </a:rPr>
              <a:t>ADJACENCY MATRICES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059732" y="634055"/>
            <a:ext cx="229694" cy="4941258"/>
          </a:xfrm>
          <a:custGeom>
            <a:avLst/>
            <a:gdLst/>
            <a:ahLst/>
            <a:cxnLst/>
            <a:rect r="r" b="b" t="t" l="l"/>
            <a:pathLst>
              <a:path h="4941258" w="229694">
                <a:moveTo>
                  <a:pt x="0" y="0"/>
                </a:moveTo>
                <a:lnTo>
                  <a:pt x="229694" y="0"/>
                </a:lnTo>
                <a:lnTo>
                  <a:pt x="229694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60754" y="1989439"/>
            <a:ext cx="1598048" cy="7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9"/>
              </a:lnSpc>
            </a:pPr>
            <a:r>
              <a:rPr lang="en-US" sz="4877" b="true">
                <a:solidFill>
                  <a:srgbClr val="44A4A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O(V²)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45555" y="2967919"/>
            <a:ext cx="3117905" cy="115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b="true">
                <a:solidFill>
                  <a:srgbClr val="263051"/>
                </a:solidFill>
                <a:latin typeface="DM Sans Bold"/>
                <a:ea typeface="DM Sans Bold"/>
                <a:cs typeface="DM Sans Bold"/>
                <a:sym typeface="DM Sans Bold"/>
              </a:rPr>
              <a:t>Every possible neighbor entry may be checked</a:t>
            </a:r>
          </a:p>
          <a:p>
            <a:pPr algn="l">
              <a:lnSpc>
                <a:spcPts val="3177"/>
              </a:lnSpc>
            </a:pPr>
            <a:r>
              <a:rPr lang="en-US" sz="1986" b="true">
                <a:solidFill>
                  <a:srgbClr val="263051"/>
                </a:solidFill>
                <a:latin typeface="DM Sans Bold"/>
                <a:ea typeface="DM Sans Bold"/>
                <a:cs typeface="DM Sans Bold"/>
                <a:sym typeface="DM Sans Bold"/>
              </a:rPr>
              <a:t>for each vertex.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487732" y="5990729"/>
            <a:ext cx="4582938" cy="4088563"/>
          </a:xfrm>
          <a:custGeom>
            <a:avLst/>
            <a:gdLst/>
            <a:ahLst/>
            <a:cxnLst/>
            <a:rect r="r" b="b" t="t" l="l"/>
            <a:pathLst>
              <a:path h="4088563" w="4582938">
                <a:moveTo>
                  <a:pt x="0" y="0"/>
                </a:moveTo>
                <a:lnTo>
                  <a:pt x="4582938" y="0"/>
                </a:lnTo>
                <a:lnTo>
                  <a:pt x="4582938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056867" y="6326486"/>
            <a:ext cx="2462550" cy="36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b="true" sz="1986" spc="39">
                <a:solidFill>
                  <a:srgbClr val="F6F4EA"/>
                </a:solidFill>
                <a:latin typeface="DM Sans Bold"/>
                <a:ea typeface="DM Sans Bold"/>
                <a:cs typeface="DM Sans Bold"/>
                <a:sym typeface="DM Sans Bold"/>
              </a:rPr>
              <a:t>AUXILIARY SPACE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67935" y="6989638"/>
            <a:ext cx="1355687" cy="7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9"/>
              </a:lnSpc>
            </a:pPr>
            <a:r>
              <a:rPr lang="en-US" sz="4877" b="true">
                <a:solidFill>
                  <a:srgbClr val="F6F4E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O(V)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48745" y="8098131"/>
            <a:ext cx="3274672" cy="104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true">
                <a:solidFill>
                  <a:srgbClr val="F6F4EA"/>
                </a:solidFill>
                <a:latin typeface="DM Sans Bold"/>
                <a:ea typeface="DM Sans Bold"/>
                <a:cs typeface="DM Sans Bold"/>
                <a:sym typeface="DM Sans Bold"/>
              </a:rPr>
              <a:t>For the queue, visited, distance, and parent arrays.</a:t>
            </a:r>
          </a:p>
          <a:p>
            <a:pPr algn="l">
              <a:lnSpc>
                <a:spcPts val="2896"/>
              </a:lnSpc>
            </a:pPr>
            <a:r>
              <a:rPr lang="en-US" sz="1810" b="true">
                <a:solidFill>
                  <a:srgbClr val="F6F4EA"/>
                </a:solidFill>
                <a:latin typeface="DM Sans Bold"/>
                <a:ea typeface="DM Sans Bold"/>
                <a:cs typeface="DM Sans Bold"/>
                <a:sym typeface="DM Sans Bold"/>
              </a:rPr>
              <a:t>Graph storage is separate.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059732" y="5990729"/>
            <a:ext cx="4801694" cy="4088563"/>
          </a:xfrm>
          <a:custGeom>
            <a:avLst/>
            <a:gdLst/>
            <a:ahLst/>
            <a:cxnLst/>
            <a:rect r="r" b="b" t="t" l="l"/>
            <a:pathLst>
              <a:path h="4088563" w="4801694">
                <a:moveTo>
                  <a:pt x="0" y="0"/>
                </a:moveTo>
                <a:lnTo>
                  <a:pt x="4801694" y="0"/>
                </a:lnTo>
                <a:lnTo>
                  <a:pt x="4801694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574411" y="6326486"/>
            <a:ext cx="3443312" cy="36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b="true" sz="1986" spc="39">
                <a:solidFill>
                  <a:srgbClr val="F6F4EA"/>
                </a:solidFill>
                <a:latin typeface="DM Sans Bold"/>
                <a:ea typeface="DM Sans Bold"/>
                <a:cs typeface="DM Sans Bold"/>
                <a:sym typeface="DM Sans Bold"/>
              </a:rPr>
              <a:t>DISCONNECTED GRAPHS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73475" y="6878648"/>
            <a:ext cx="3536908" cy="259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1916" b="true">
                <a:solidFill>
                  <a:srgbClr val="F6F4EA"/>
                </a:solidFill>
                <a:latin typeface="DM Sans Bold"/>
                <a:ea typeface="DM Sans Bold"/>
                <a:cs typeface="DM Sans Bold"/>
                <a:sym typeface="DM Sans Bold"/>
              </a:rPr>
              <a:t>One BFS reaches only the source component.</a:t>
            </a:r>
          </a:p>
          <a:p>
            <a:pPr algn="l">
              <a:lnSpc>
                <a:spcPts val="3064"/>
              </a:lnSpc>
            </a:pPr>
            <a:r>
              <a:rPr lang="en-US" sz="1916" b="true">
                <a:solidFill>
                  <a:srgbClr val="F6F4EA"/>
                </a:solidFill>
                <a:latin typeface="DM Sans Bold"/>
                <a:ea typeface="DM Sans Bold"/>
                <a:cs typeface="DM Sans Bold"/>
                <a:sym typeface="DM Sans Bold"/>
              </a:rPr>
              <a:t>Run BFS from each unvisited vertex to traverse the entire graph.</a:t>
            </a:r>
          </a:p>
          <a:p>
            <a:pPr algn="l">
              <a:lnSpc>
                <a:spcPts val="3064"/>
              </a:lnSpc>
            </a:pPr>
            <a:r>
              <a:rPr lang="en-US" sz="1916" b="true">
                <a:solidFill>
                  <a:srgbClr val="F6F4EA"/>
                </a:solidFill>
                <a:latin typeface="DM Sans Bold"/>
                <a:ea typeface="DM Sans Bold"/>
                <a:cs typeface="DM Sans Bold"/>
                <a:sym typeface="DM Sans Bold"/>
              </a:rPr>
              <a:t>Overall: O(V + E) with adjacency lists.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2826" y="492620"/>
            <a:ext cx="11616609" cy="18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4"/>
              </a:lnSpc>
            </a:pPr>
            <a:r>
              <a:rPr lang="en-US" sz="7264" spc="-70" b="true">
                <a:solidFill>
                  <a:srgbClr val="2530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Common Pitfalls, Variants and Applications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569017"/>
            <a:ext cx="1104718" cy="218640"/>
          </a:xfrm>
          <a:custGeom>
            <a:avLst/>
            <a:gdLst/>
            <a:ahLst/>
            <a:cxnLst/>
            <a:rect r="r" b="b" t="t" l="l"/>
            <a:pathLst>
              <a:path h="218640" w="1104718">
                <a:moveTo>
                  <a:pt x="0" y="0"/>
                </a:moveTo>
                <a:lnTo>
                  <a:pt x="1104718" y="0"/>
                </a:lnTo>
                <a:lnTo>
                  <a:pt x="110471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6574" y="2995365"/>
            <a:ext cx="5457962" cy="4514911"/>
          </a:xfrm>
          <a:custGeom>
            <a:avLst/>
            <a:gdLst/>
            <a:ahLst/>
            <a:cxnLst/>
            <a:rect r="r" b="b" t="t" l="l"/>
            <a:pathLst>
              <a:path h="4514911" w="5457962">
                <a:moveTo>
                  <a:pt x="0" y="0"/>
                </a:moveTo>
                <a:lnTo>
                  <a:pt x="5457962" y="0"/>
                </a:lnTo>
                <a:lnTo>
                  <a:pt x="5457962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574" y="2995365"/>
            <a:ext cx="5457962" cy="863627"/>
          </a:xfrm>
          <a:custGeom>
            <a:avLst/>
            <a:gdLst/>
            <a:ahLst/>
            <a:cxnLst/>
            <a:rect r="r" b="b" t="t" l="l"/>
            <a:pathLst>
              <a:path h="863627" w="5457962">
                <a:moveTo>
                  <a:pt x="0" y="0"/>
                </a:moveTo>
                <a:lnTo>
                  <a:pt x="5457962" y="0"/>
                </a:lnTo>
                <a:lnTo>
                  <a:pt x="5457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0461" y="3236752"/>
            <a:ext cx="4366617" cy="38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0"/>
              </a:lnSpc>
            </a:pPr>
            <a:r>
              <a:rPr lang="en-US" b="true" sz="2454" spc="-49">
                <a:solidFill>
                  <a:srgbClr val="FFFFFF">
                    <a:alpha val="80000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COMMON PITFALLS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4773" y="4128657"/>
            <a:ext cx="4420195" cy="2717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2122" spc="-42" b="true">
                <a:solidFill>
                  <a:srgbClr val="4694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 visited when enqueuing,</a:t>
            </a:r>
          </a:p>
          <a:p>
            <a:pPr algn="l">
              <a:lnSpc>
                <a:spcPts val="2758"/>
              </a:lnSpc>
            </a:pPr>
            <a:r>
              <a:rPr lang="en-US" sz="2122" spc="-42" b="true">
                <a:solidFill>
                  <a:srgbClr val="4694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not when queueing</a:t>
            </a:r>
          </a:p>
          <a:p>
            <a:pPr algn="l">
              <a:lnSpc>
                <a:spcPts val="2758"/>
              </a:lnSpc>
            </a:pPr>
          </a:p>
          <a:p>
            <a:pPr algn="l">
              <a:lnSpc>
                <a:spcPts val="2758"/>
              </a:lnSpc>
            </a:pPr>
            <a:r>
              <a:rPr lang="en-US" sz="2122" spc="-42" b="true">
                <a:solidFill>
                  <a:srgbClr val="4694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 a FIFO queue — a stack</a:t>
            </a:r>
          </a:p>
          <a:p>
            <a:pPr algn="l">
              <a:lnSpc>
                <a:spcPts val="2758"/>
              </a:lnSpc>
            </a:pPr>
            <a:r>
              <a:rPr lang="en-US" sz="2122" spc="-42" b="true">
                <a:solidFill>
                  <a:srgbClr val="4694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changes the traversal order</a:t>
            </a:r>
          </a:p>
          <a:p>
            <a:pPr algn="l">
              <a:lnSpc>
                <a:spcPts val="2758"/>
              </a:lnSpc>
            </a:pPr>
          </a:p>
          <a:p>
            <a:pPr algn="l">
              <a:lnSpc>
                <a:spcPts val="2758"/>
              </a:lnSpc>
            </a:pPr>
            <a:r>
              <a:rPr lang="en-US" sz="2122" spc="-42" b="true">
                <a:solidFill>
                  <a:srgbClr val="4694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Neighbor order affects visit order,</a:t>
            </a:r>
          </a:p>
          <a:p>
            <a:pPr algn="l">
              <a:lnSpc>
                <a:spcPts val="2971"/>
              </a:lnSpc>
            </a:pPr>
            <a:r>
              <a:rPr lang="en-US" sz="2122" b="true">
                <a:solidFill>
                  <a:srgbClr val="4694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not shortest distances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873598" y="2995365"/>
            <a:ext cx="5020450" cy="4514911"/>
          </a:xfrm>
          <a:custGeom>
            <a:avLst/>
            <a:gdLst/>
            <a:ahLst/>
            <a:cxnLst/>
            <a:rect r="r" b="b" t="t" l="l"/>
            <a:pathLst>
              <a:path h="4514911" w="5020450">
                <a:moveTo>
                  <a:pt x="0" y="0"/>
                </a:moveTo>
                <a:lnTo>
                  <a:pt x="5020450" y="0"/>
                </a:lnTo>
                <a:lnTo>
                  <a:pt x="5020450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73598" y="2995365"/>
            <a:ext cx="5020450" cy="863627"/>
          </a:xfrm>
          <a:custGeom>
            <a:avLst/>
            <a:gdLst/>
            <a:ahLst/>
            <a:cxnLst/>
            <a:rect r="r" b="b" t="t" l="l"/>
            <a:pathLst>
              <a:path h="863627" w="5020450">
                <a:moveTo>
                  <a:pt x="0" y="0"/>
                </a:moveTo>
                <a:lnTo>
                  <a:pt x="5020450" y="0"/>
                </a:lnTo>
                <a:lnTo>
                  <a:pt x="502045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616898" y="4013300"/>
            <a:ext cx="4420195" cy="293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 b="true">
                <a:solidFill>
                  <a:srgbClr val="4694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 disconnected graphs,</a:t>
            </a:r>
          </a:p>
          <a:p>
            <a:pPr algn="l">
              <a:lnSpc>
                <a:spcPts val="2930"/>
              </a:lnSpc>
            </a:pPr>
            <a:r>
              <a:rPr lang="en-US" sz="2254" spc="-45" b="true">
                <a:solidFill>
                  <a:srgbClr val="4694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restart BFS from each</a:t>
            </a:r>
          </a:p>
          <a:p>
            <a:pPr algn="l">
              <a:lnSpc>
                <a:spcPts val="2930"/>
              </a:lnSpc>
            </a:pPr>
            <a:r>
              <a:rPr lang="en-US" sz="2254" spc="-45" b="true">
                <a:solidFill>
                  <a:srgbClr val="4694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unvisited vertex</a:t>
            </a:r>
          </a:p>
          <a:p>
            <a:pPr algn="l">
              <a:lnSpc>
                <a:spcPts val="2930"/>
              </a:lnSpc>
            </a:pPr>
          </a:p>
          <a:p>
            <a:pPr algn="l">
              <a:lnSpc>
                <a:spcPts val="2930"/>
              </a:lnSpc>
            </a:pPr>
            <a:r>
              <a:rPr lang="en-US" sz="2254" spc="-45" b="true">
                <a:solidFill>
                  <a:srgbClr val="4694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Multi-source BFS enqueues</a:t>
            </a:r>
          </a:p>
          <a:p>
            <a:pPr algn="l">
              <a:lnSpc>
                <a:spcPts val="3157"/>
              </a:lnSpc>
            </a:pPr>
            <a:r>
              <a:rPr lang="en-US" sz="2254" b="true">
                <a:solidFill>
                  <a:srgbClr val="4694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all sources with distance 0</a:t>
            </a:r>
          </a:p>
          <a:p>
            <a:pPr algn="l">
              <a:lnSpc>
                <a:spcPts val="3157"/>
              </a:lnSpc>
            </a:pPr>
            <a:r>
              <a:rPr lang="en-US" sz="2254" b="true">
                <a:solidFill>
                  <a:srgbClr val="4694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 get nearest-source</a:t>
            </a:r>
          </a:p>
          <a:p>
            <a:pPr algn="l">
              <a:lnSpc>
                <a:spcPts val="3157"/>
              </a:lnSpc>
            </a:pPr>
            <a:r>
              <a:rPr lang="en-US" sz="2254" b="true">
                <a:solidFill>
                  <a:srgbClr val="46949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distances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26574" y="7707051"/>
            <a:ext cx="10467474" cy="2153601"/>
          </a:xfrm>
          <a:custGeom>
            <a:avLst/>
            <a:gdLst/>
            <a:ahLst/>
            <a:cxnLst/>
            <a:rect r="r" b="b" t="t" l="l"/>
            <a:pathLst>
              <a:path h="2153601" w="10467474">
                <a:moveTo>
                  <a:pt x="0" y="0"/>
                </a:moveTo>
                <a:lnTo>
                  <a:pt x="10467474" y="0"/>
                </a:lnTo>
                <a:lnTo>
                  <a:pt x="1046747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89141" y="8583966"/>
            <a:ext cx="1453113" cy="68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38" b="true">
                <a:solidFill>
                  <a:srgbClr val="253052">
                    <a:alpha val="80000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Unweighted</a:t>
            </a:r>
          </a:p>
          <a:p>
            <a:pPr algn="l">
              <a:lnSpc>
                <a:spcPts val="2874"/>
              </a:lnSpc>
            </a:pPr>
            <a:r>
              <a:rPr lang="en-US" sz="1916" spc="-38" b="true">
                <a:solidFill>
                  <a:srgbClr val="253052">
                    <a:alpha val="80000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route finding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384440" y="8570678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608745" y="8600812"/>
            <a:ext cx="1658340" cy="65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37" b="true">
                <a:solidFill>
                  <a:srgbClr val="253052">
                    <a:alpha val="80000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Social network</a:t>
            </a:r>
          </a:p>
          <a:p>
            <a:pPr algn="l">
              <a:lnSpc>
                <a:spcPts val="2794"/>
              </a:lnSpc>
            </a:pPr>
            <a:r>
              <a:rPr lang="en-US" sz="1863" spc="-37" b="true">
                <a:solidFill>
                  <a:srgbClr val="253052">
                    <a:alpha val="80000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degrees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134488" y="8570678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430952" y="8600812"/>
            <a:ext cx="1603279" cy="65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37" b="true">
                <a:solidFill>
                  <a:srgbClr val="253052">
                    <a:alpha val="80000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Broadcasting</a:t>
            </a:r>
          </a:p>
          <a:p>
            <a:pPr algn="l">
              <a:lnSpc>
                <a:spcPts val="2794"/>
              </a:lnSpc>
            </a:pPr>
            <a:r>
              <a:rPr lang="en-US" sz="1863" spc="-37" b="true">
                <a:solidFill>
                  <a:srgbClr val="253052">
                    <a:alpha val="80000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and spreading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873598" y="8570678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279598" y="8600812"/>
            <a:ext cx="1583138" cy="65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37" b="true">
                <a:solidFill>
                  <a:srgbClr val="253052">
                    <a:alpha val="80000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Maze shortest paths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612708" y="8570678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999518" y="8583966"/>
            <a:ext cx="1041154" cy="68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38" b="true">
                <a:solidFill>
                  <a:srgbClr val="253052">
                    <a:alpha val="80000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Bipartite</a:t>
            </a:r>
          </a:p>
          <a:p>
            <a:pPr algn="l">
              <a:lnSpc>
                <a:spcPts val="2874"/>
              </a:lnSpc>
            </a:pPr>
            <a:r>
              <a:rPr lang="en-US" sz="1916" spc="-38" b="true">
                <a:solidFill>
                  <a:srgbClr val="253052">
                    <a:alpha val="80000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checking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925244" y="8570678"/>
            <a:ext cx="218756" cy="863627"/>
          </a:xfrm>
          <a:custGeom>
            <a:avLst/>
            <a:gdLst/>
            <a:ahLst/>
            <a:cxnLst/>
            <a:rect r="r" b="b" t="t" l="l"/>
            <a:pathLst>
              <a:path h="863627" w="218756">
                <a:moveTo>
                  <a:pt x="0" y="0"/>
                </a:moveTo>
                <a:lnTo>
                  <a:pt x="218756" y="0"/>
                </a:lnTo>
                <a:lnTo>
                  <a:pt x="21875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307719" y="8600812"/>
            <a:ext cx="1487522" cy="65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37" b="true">
                <a:solidFill>
                  <a:srgbClr val="253052">
                    <a:alpha val="80000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Level-order</a:t>
            </a:r>
          </a:p>
          <a:p>
            <a:pPr algn="l">
              <a:lnSpc>
                <a:spcPts val="2794"/>
              </a:lnSpc>
            </a:pPr>
            <a:r>
              <a:rPr lang="en-US" sz="1863" spc="-37" b="true">
                <a:solidFill>
                  <a:srgbClr val="253052">
                    <a:alpha val="80000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tree traversal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1101866" y="2350377"/>
            <a:ext cx="6759560" cy="7510275"/>
          </a:xfrm>
          <a:custGeom>
            <a:avLst/>
            <a:gdLst/>
            <a:ahLst/>
            <a:cxnLst/>
            <a:rect r="r" b="b" t="t" l="l"/>
            <a:pathLst>
              <a:path h="7510275" w="6759560">
                <a:moveTo>
                  <a:pt x="0" y="0"/>
                </a:moveTo>
                <a:lnTo>
                  <a:pt x="6759560" y="0"/>
                </a:lnTo>
                <a:lnTo>
                  <a:pt x="6759560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30461" y="7995977"/>
            <a:ext cx="4366617" cy="38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0"/>
              </a:lnSpc>
            </a:pPr>
            <a:r>
              <a:rPr lang="en-US" b="true" sz="2454" spc="-49">
                <a:solidFill>
                  <a:srgbClr val="E4774B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29375" y="3236752"/>
            <a:ext cx="4366617" cy="38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0"/>
              </a:lnSpc>
            </a:pPr>
            <a:r>
              <a:rPr lang="en-US" b="true" sz="2454" spc="-49">
                <a:solidFill>
                  <a:srgbClr val="FFFFFF">
                    <a:alpha val="80000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VARIANTS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368" y="633690"/>
            <a:ext cx="10335872" cy="940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4"/>
              </a:lnSpc>
            </a:pPr>
            <a:r>
              <a:rPr lang="en-US" sz="7124" b="true">
                <a:solidFill>
                  <a:srgbClr val="16294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BFS vs DFS vs Dijkstra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5985" y="1642164"/>
            <a:ext cx="6053095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spc="-32" b="true">
                <a:solidFill>
                  <a:srgbClr val="16294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Choosing the Right Algorithm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142670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59464" y="2569017"/>
            <a:ext cx="9592450" cy="863627"/>
          </a:xfrm>
          <a:custGeom>
            <a:avLst/>
            <a:gdLst/>
            <a:ahLst/>
            <a:cxnLst/>
            <a:rect r="r" b="b" t="t" l="l"/>
            <a:pathLst>
              <a:path h="863627" w="9592450">
                <a:moveTo>
                  <a:pt x="0" y="0"/>
                </a:moveTo>
                <a:lnTo>
                  <a:pt x="9592450" y="0"/>
                </a:lnTo>
                <a:lnTo>
                  <a:pt x="9592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34984" y="2922112"/>
            <a:ext cx="727861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true">
                <a:solidFill>
                  <a:srgbClr val="F8F8F1"/>
                </a:solidFill>
                <a:latin typeface="DM Sans Bold"/>
                <a:ea typeface="DM Sans Bold"/>
                <a:cs typeface="DM Sans Bold"/>
                <a:sym typeface="DM Sans Bold"/>
              </a:rPr>
              <a:t>BFS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17605" y="2922112"/>
            <a:ext cx="738790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true">
                <a:solidFill>
                  <a:srgbClr val="F8F8F1"/>
                </a:solidFill>
                <a:latin typeface="DM Sans Bold"/>
                <a:ea typeface="DM Sans Bold"/>
                <a:cs typeface="DM Sans Bold"/>
                <a:sym typeface="DM Sans Bold"/>
              </a:rPr>
              <a:t>DFS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03464" y="2569017"/>
            <a:ext cx="5020450" cy="863627"/>
          </a:xfrm>
          <a:custGeom>
            <a:avLst/>
            <a:gdLst/>
            <a:ahLst/>
            <a:cxnLst/>
            <a:rect r="r" b="b" t="t" l="l"/>
            <a:pathLst>
              <a:path h="863627" w="5020450">
                <a:moveTo>
                  <a:pt x="0" y="0"/>
                </a:moveTo>
                <a:lnTo>
                  <a:pt x="5020450" y="0"/>
                </a:lnTo>
                <a:lnTo>
                  <a:pt x="5020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5330" y="3214004"/>
            <a:ext cx="16778584" cy="4722618"/>
          </a:xfrm>
          <a:custGeom>
            <a:avLst/>
            <a:gdLst/>
            <a:ahLst/>
            <a:cxnLst/>
            <a:rect r="r" b="b" t="t" l="l"/>
            <a:pathLst>
              <a:path h="4722618" w="16778584">
                <a:moveTo>
                  <a:pt x="0" y="0"/>
                </a:moveTo>
                <a:lnTo>
                  <a:pt x="16778584" y="0"/>
                </a:lnTo>
                <a:lnTo>
                  <a:pt x="16778584" y="4722619"/>
                </a:lnTo>
                <a:lnTo>
                  <a:pt x="0" y="47226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01210" y="3850050"/>
            <a:ext cx="961799" cy="32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 b="true">
                <a:solidFill>
                  <a:srgbClr val="16294C"/>
                </a:solidFill>
                <a:latin typeface="DM Sans Bold"/>
                <a:ea typeface="DM Sans Bold"/>
                <a:cs typeface="DM Sans Bold"/>
                <a:sym typeface="DM Sans Bold"/>
              </a:rPr>
              <a:t>Best for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97151" y="3669320"/>
            <a:ext cx="3368458" cy="66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Unweighted shortest paths (minimum number of edges)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11230" y="3669320"/>
            <a:ext cx="3448135" cy="66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Reachability, cycle detection, topological workflows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22533" y="3669320"/>
            <a:ext cx="3089684" cy="66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Shortest paths with </a:t>
            </a:r>
          </a:p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nonnegative edge weights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9761" y="4829004"/>
            <a:ext cx="2106684" cy="32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 b="true">
                <a:solidFill>
                  <a:srgbClr val="16294C"/>
                </a:solidFill>
                <a:latin typeface="DM Sans Bold"/>
                <a:ea typeface="DM Sans Bold"/>
                <a:cs typeface="DM Sans Bold"/>
                <a:sym typeface="DM Sans Bold"/>
              </a:rPr>
              <a:t>Core mechanism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02229" y="4829004"/>
            <a:ext cx="2860737" cy="32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First-In, First-Out queue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24296" y="4829004"/>
            <a:ext cx="2141539" cy="32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Stack or recursion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31213" y="4829004"/>
            <a:ext cx="2221691" cy="32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Min-priority queue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0055" y="5762776"/>
            <a:ext cx="2077338" cy="32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 b="true">
                <a:solidFill>
                  <a:srgbClr val="16294C"/>
                </a:solidFill>
                <a:latin typeface="DM Sans Bold"/>
                <a:ea typeface="DM Sans Bold"/>
                <a:cs typeface="DM Sans Bold"/>
                <a:sym typeface="DM Sans Bold"/>
              </a:rPr>
              <a:t>Time complexity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97073" y="5762776"/>
            <a:ext cx="3376248" cy="32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O(V + E) with adjacency lists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11006" y="5762776"/>
            <a:ext cx="3470515" cy="32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O((V + E) with adjacency lists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26796" y="5597107"/>
            <a:ext cx="2663417" cy="66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O((V + E) log V) with a </a:t>
            </a:r>
          </a:p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binary heap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0703" y="6937522"/>
            <a:ext cx="2012479" cy="32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 b="true">
                <a:solidFill>
                  <a:srgbClr val="16294C"/>
                </a:solidFill>
                <a:latin typeface="DM Sans Bold"/>
                <a:ea typeface="DM Sans Bold"/>
                <a:cs typeface="DM Sans Bold"/>
                <a:sym typeface="DM Sans Bold"/>
              </a:rPr>
              <a:t>When to choose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22512" y="6591123"/>
            <a:ext cx="3511311" cy="10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All edges have equal cost and you want the minimum </a:t>
            </a:r>
          </a:p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number of edges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09206" y="6591123"/>
            <a:ext cx="3650460" cy="100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Exploring depth-first structure, detecting cycles, or producing topological order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22533" y="6756792"/>
            <a:ext cx="3089684" cy="66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1986" spc="-19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Weighted graphs with nonnegative edge weights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45330" y="7925691"/>
            <a:ext cx="16778584" cy="1508614"/>
          </a:xfrm>
          <a:custGeom>
            <a:avLst/>
            <a:gdLst/>
            <a:ahLst/>
            <a:cxnLst/>
            <a:rect r="r" b="b" t="t" l="l"/>
            <a:pathLst>
              <a:path h="1508614" w="16778584">
                <a:moveTo>
                  <a:pt x="0" y="0"/>
                </a:moveTo>
                <a:lnTo>
                  <a:pt x="16778584" y="0"/>
                </a:lnTo>
                <a:lnTo>
                  <a:pt x="1677858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09095" y="8479786"/>
            <a:ext cx="3035849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true">
                <a:solidFill>
                  <a:srgbClr val="2F888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takeaway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4998574" y="8133399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681692" y="8280377"/>
            <a:ext cx="10474523" cy="71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1"/>
              </a:lnSpc>
            </a:pPr>
            <a:r>
              <a:rPr lang="en-US" sz="2179" spc="-21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Discover each vertex </a:t>
            </a:r>
            <a:r>
              <a:rPr lang="en-US" b="true" sz="2179" spc="-21">
                <a:solidFill>
                  <a:srgbClr val="2F888D"/>
                </a:solidFill>
                <a:latin typeface="DM Sans Bold"/>
                <a:ea typeface="DM Sans Bold"/>
                <a:cs typeface="DM Sans Bold"/>
                <a:sym typeface="DM Sans Bold"/>
              </a:rPr>
              <a:t>once</a:t>
            </a:r>
            <a:r>
              <a:rPr lang="en-US" sz="2179" spc="-21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, enqueue it once, process </a:t>
            </a:r>
            <a:r>
              <a:rPr lang="en-US" b="true" sz="2179" spc="-21">
                <a:solidFill>
                  <a:srgbClr val="2F888D"/>
                </a:solidFill>
                <a:latin typeface="DM Sans Bold"/>
                <a:ea typeface="DM Sans Bold"/>
                <a:cs typeface="DM Sans Bold"/>
                <a:sym typeface="DM Sans Bold"/>
              </a:rPr>
              <a:t>level by level</a:t>
            </a:r>
            <a:r>
              <a:rPr lang="en-US" sz="2179" spc="-21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, and use </a:t>
            </a:r>
            <a:r>
              <a:rPr lang="en-US" b="true" sz="2179" spc="-21">
                <a:solidFill>
                  <a:srgbClr val="2F888D"/>
                </a:solidFill>
                <a:latin typeface="DM Sans Bold"/>
                <a:ea typeface="DM Sans Bold"/>
                <a:cs typeface="DM Sans Bold"/>
                <a:sym typeface="DM Sans Bold"/>
              </a:rPr>
              <a:t>parent pointers</a:t>
            </a:r>
            <a:r>
              <a:rPr lang="en-US" sz="2179" spc="-21">
                <a:solidFill>
                  <a:srgbClr val="16294C"/>
                </a:solidFill>
                <a:latin typeface="DM Sans"/>
                <a:ea typeface="DM Sans"/>
                <a:cs typeface="DM Sans"/>
                <a:sym typeface="DM Sans"/>
              </a:rPr>
              <a:t> to recover paths.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4158" y="9740907"/>
            <a:ext cx="6914661" cy="19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15" b="true">
                <a:solidFill>
                  <a:srgbClr val="16294C"/>
                </a:solidFill>
                <a:latin typeface="DM Sans Bold"/>
                <a:ea typeface="DM Sans Bold"/>
                <a:cs typeface="DM Sans Bold"/>
                <a:sym typeface="DM Sans Bold"/>
              </a:rPr>
              <a:t>Generated using Canva • Source material attribution: NotebookLM.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82100" y="2922112"/>
            <a:ext cx="1377398" cy="35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true">
                <a:solidFill>
                  <a:srgbClr val="F8F8F1"/>
                </a:solidFill>
                <a:latin typeface="DM Sans Bold"/>
                <a:ea typeface="DM Sans Bold"/>
                <a:cs typeface="DM Sans Bold"/>
                <a:sym typeface="DM Sans Bold"/>
              </a:rPr>
              <a:t>Dijkstra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DAHXyHYW8gs</dc:identifier>
  <dcterms:modified xsi:type="dcterms:W3CDTF">2011-08-01T06:04:30Z</dcterms:modified>
  <cp:revision>1</cp:revision>
  <dc:title>Breadth-First Search</dc:title>
</cp:coreProperties>
</file>